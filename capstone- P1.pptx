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9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NewsAPI.org free plan: 100 requests/day, max 100 articles/request, resets 00:00 UTC, development only (localhost).
NewsData.io free plan: 200 credits/day, 1 request = 1 credit, max 10 articles/request, articles delayed by 12 hours, resets 00:00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70655" cy="6858000"/>
          </a:xfrm>
          <a:prstGeom prst="rect">
            <a:avLst/>
          </a:prstGeom>
          <a:solidFill>
            <a:srgbClr val="15316B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822960"/>
            <a:ext cx="2926080" cy="2926080"/>
          </a:xfrm>
          <a:prstGeom prst="ellipse">
            <a:avLst/>
          </a:prstGeom>
          <a:solidFill>
            <a:srgbClr val="1F4E9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5120640"/>
            <a:ext cx="2011680" cy="2011680"/>
          </a:xfrm>
          <a:prstGeom prst="ellipse">
            <a:avLst/>
          </a:prstGeom>
          <a:solidFill>
            <a:srgbClr val="1F4E9C">
              <a:alpha val="5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•  SEMESTER VII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Value &amp; Development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Estimator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58368" y="3063240"/>
            <a:ext cx="1280160" cy="5486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9" name="Text 6"/>
          <p:cNvSpPr/>
          <p:nvPr/>
        </p:nvSpPr>
        <p:spPr>
          <a:xfrm>
            <a:off x="649045" y="329184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
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2026–27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4956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Vignesh Rasuri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566160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23WU0101189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53400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Thota Abhishek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566160" y="53400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23WU0101178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57241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Tangudu Santosh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566160" y="57241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23WU0101171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309360" y="5449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/ MENTOR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56832" y="5816929"/>
            <a:ext cx="1828800" cy="0"/>
          </a:xfrm>
          <a:prstGeom prst="line">
            <a:avLst/>
          </a:prstGeom>
          <a:noFill/>
          <a:ln w="12700">
            <a:solidFill>
              <a:srgbClr val="B9C4D3"/>
            </a:solidFill>
            <a:prstDash val="solid"/>
          </a:ln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23D0AF7-FE20-7B0A-804D-AF2A3EC19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567" y="1483579"/>
            <a:ext cx="3565600" cy="38565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223E32-3B79-DE2E-85FC-0BAF8863266F}"/>
              </a:ext>
            </a:extLst>
          </p:cNvPr>
          <p:cNvSpPr txBox="1"/>
          <p:nvPr/>
        </p:nvSpPr>
        <p:spPr>
          <a:xfrm>
            <a:off x="6156832" y="5894308"/>
            <a:ext cx="191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Prof. Dileep </a:t>
            </a:r>
            <a:r>
              <a:rPr lang="en-IN" dirty="0" err="1"/>
              <a:t>kumar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explainable regional impact platform is needed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12080" cy="4709160"/>
          </a:xfrm>
          <a:prstGeom prst="roundRect">
            <a:avLst>
              <a:gd name="adj" fmla="val 2330"/>
            </a:avLst>
          </a:prstGeom>
          <a:solidFill>
            <a:srgbClr val="F5F7FA"/>
          </a:solidFill>
          <a:ln/>
        </p:spPr>
      </p:sp>
      <p:sp>
        <p:nvSpPr>
          <p:cNvPr id="7" name="Text 4"/>
          <p:cNvSpPr/>
          <p:nvPr/>
        </p:nvSpPr>
        <p:spPr>
          <a:xfrm>
            <a:off x="164592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53307" y="2871575"/>
            <a:ext cx="128016" cy="128016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9" name="Text 6"/>
          <p:cNvSpPr/>
          <p:nvPr/>
        </p:nvSpPr>
        <p:spPr>
          <a:xfrm>
            <a:off x="1325880" y="2767405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websites only show current prices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0120" y="3511296"/>
            <a:ext cx="128016" cy="128016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3832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see how infrastructure projects will influence future value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60120" y="4315968"/>
            <a:ext cx="128016" cy="128016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418795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development news is scattered across many sources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60120" y="5120640"/>
            <a:ext cx="128016" cy="128016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499262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explainable regional impact estimation platform exists today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080760" y="1508760"/>
            <a:ext cx="5440680" cy="4709160"/>
          </a:xfrm>
          <a:prstGeom prst="roundRect">
            <a:avLst>
              <a:gd name="adj" fmla="val 2330"/>
            </a:avLst>
          </a:prstGeom>
          <a:solidFill>
            <a:srgbClr val="15316B"/>
          </a:solidFill>
          <a:ln/>
        </p:spPr>
      </p:sp>
      <p:sp>
        <p:nvSpPr>
          <p:cNvPr id="19" name="Text 15"/>
          <p:cNvSpPr/>
          <p:nvPr/>
        </p:nvSpPr>
        <p:spPr>
          <a:xfrm>
            <a:off x="7086600" y="1828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400800" y="2697480"/>
            <a:ext cx="128016" cy="128016"/>
          </a:xfrm>
          <a:prstGeom prst="ellipse">
            <a:avLst/>
          </a:prstGeom>
          <a:solidFill>
            <a:srgbClr val="8FB4E8"/>
          </a:solidFill>
          <a:ln/>
        </p:spPr>
      </p:sp>
      <p:sp>
        <p:nvSpPr>
          <p:cNvPr id="21" name="Text 17"/>
          <p:cNvSpPr/>
          <p:nvPr/>
        </p:nvSpPr>
        <p:spPr>
          <a:xfrm>
            <a:off x="6675120" y="256032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government market values for regions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400800" y="3392424"/>
            <a:ext cx="128016" cy="128016"/>
          </a:xfrm>
          <a:prstGeom prst="ellipse">
            <a:avLst/>
          </a:prstGeom>
          <a:solidFill>
            <a:srgbClr val="8FB4E8"/>
          </a:solidFill>
          <a:ln/>
        </p:spPr>
      </p:sp>
      <p:sp>
        <p:nvSpPr>
          <p:cNvPr id="23" name="Text 19"/>
          <p:cNvSpPr/>
          <p:nvPr/>
        </p:nvSpPr>
        <p:spPr>
          <a:xfrm>
            <a:off x="6675120" y="3255264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process infrastructure development news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6400800" y="4087368"/>
            <a:ext cx="128016" cy="128016"/>
          </a:xfrm>
          <a:prstGeom prst="ellipse">
            <a:avLst/>
          </a:prstGeom>
          <a:solidFill>
            <a:srgbClr val="8FB4E8"/>
          </a:solidFill>
          <a:ln/>
        </p:spPr>
      </p:sp>
      <p:sp>
        <p:nvSpPr>
          <p:cNvPr id="25" name="Text 21"/>
          <p:cNvSpPr/>
          <p:nvPr/>
        </p:nvSpPr>
        <p:spPr>
          <a:xfrm>
            <a:off x="6675120" y="3950208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regional impact using rule-based scoring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6400800" y="4782312"/>
            <a:ext cx="128016" cy="128016"/>
          </a:xfrm>
          <a:prstGeom prst="ellipse">
            <a:avLst/>
          </a:prstGeom>
          <a:solidFill>
            <a:srgbClr val="8FB4E8"/>
          </a:solidFill>
          <a:ln/>
        </p:spPr>
      </p:sp>
      <p:sp>
        <p:nvSpPr>
          <p:cNvPr id="27" name="Text 23"/>
          <p:cNvSpPr/>
          <p:nvPr/>
        </p:nvSpPr>
        <p:spPr>
          <a:xfrm>
            <a:off x="6675120" y="464515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supporting evidence for every projection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6400800" y="5477256"/>
            <a:ext cx="128016" cy="128016"/>
          </a:xfrm>
          <a:prstGeom prst="ellipse">
            <a:avLst/>
          </a:prstGeom>
          <a:solidFill>
            <a:srgbClr val="8FB4E8"/>
          </a:solidFill>
          <a:ln/>
        </p:spPr>
      </p:sp>
      <p:sp>
        <p:nvSpPr>
          <p:cNvPr id="29" name="Text 25"/>
          <p:cNvSpPr/>
          <p:nvPr/>
        </p:nvSpPr>
        <p:spPr>
          <a:xfrm>
            <a:off x="6675120" y="5340096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results on an interactive map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33" name="Picture 32" descr="Objective Images - Free Download on Magnific (formerly Freepik)">
            <a:extLst>
              <a:ext uri="{FF2B5EF4-FFF2-40B4-BE49-F238E27FC236}">
                <a16:creationId xmlns:a16="http://schemas.microsoft.com/office/drawing/2014/main" id="{9D64EAFC-F5E9-898C-FD10-EB91B1D8A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65376"/>
            <a:ext cx="548640" cy="548640"/>
          </a:xfrm>
          <a:prstGeom prst="rect">
            <a:avLst/>
          </a:prstGeom>
        </p:spPr>
      </p:pic>
      <p:pic>
        <p:nvPicPr>
          <p:cNvPr id="35" name="Picture 34" descr="Download Free Problem Icons in PNG &amp; SVG | Magnific (formerly Freepik)">
            <a:extLst>
              <a:ext uri="{FF2B5EF4-FFF2-40B4-BE49-F238E27FC236}">
                <a16:creationId xmlns:a16="http://schemas.microsoft.com/office/drawing/2014/main" id="{4F0925FA-004A-EA24-6FA6-9D3AD2BE0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089" y="1873732"/>
            <a:ext cx="528702" cy="5287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explainable, evidence-backed regional impact platform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7" name="Text 4"/>
          <p:cNvSpPr/>
          <p:nvPr/>
        </p:nvSpPr>
        <p:spPr>
          <a:xfrm>
            <a:off x="150876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194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regions visually with mandal and district level detail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1737360"/>
            <a:ext cx="502920" cy="502920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2" name="Text 8"/>
          <p:cNvSpPr/>
          <p:nvPr/>
        </p:nvSpPr>
        <p:spPr>
          <a:xfrm>
            <a:off x="516636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Dashboard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2194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market value and projection summary per region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55280" y="15087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3880" y="1737360"/>
            <a:ext cx="502920" cy="502920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17" name="Text 12"/>
          <p:cNvSpPr/>
          <p:nvPr/>
        </p:nvSpPr>
        <p:spPr>
          <a:xfrm>
            <a:off x="882396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News Feed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83880" y="2194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infrastructure news relevant to each region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108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3337560"/>
            <a:ext cx="502920" cy="502920"/>
          </a:xfrm>
          <a:prstGeom prst="ellipse">
            <a:avLst/>
          </a:prstGeom>
          <a:solidFill>
            <a:srgbClr val="EAF1FC"/>
          </a:solidFill>
          <a:ln/>
        </p:spPr>
      </p:sp>
      <p:sp>
        <p:nvSpPr>
          <p:cNvPr id="22" name="Text 16"/>
          <p:cNvSpPr/>
          <p:nvPr/>
        </p:nvSpPr>
        <p:spPr>
          <a:xfrm>
            <a:off x="1508760" y="3291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Projection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68680" y="3794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value range grounded in rule-based impact scoring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108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/>
        </p:spPr>
      </p:sp>
      <p:sp>
        <p:nvSpPr>
          <p:cNvPr id="27" name="Text 20"/>
          <p:cNvSpPr/>
          <p:nvPr/>
        </p:nvSpPr>
        <p:spPr>
          <a:xfrm>
            <a:off x="5348057" y="3305719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Indicator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26280" y="3794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projection is labeled with a confidence level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955280" y="31089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/>
        </p:spPr>
      </p:sp>
      <p:pic>
        <p:nvPicPr>
          <p:cNvPr id="31" name="Image 5" descr="/home/claude/capstone/icons/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639" y="346831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23960" y="3291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Panel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183880" y="3794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links to the news articles behind each projection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64008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WORKFLOW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40080" y="52120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EAF1FC"/>
          </a:solidFill>
          <a:ln/>
        </p:spPr>
      </p:sp>
      <p:sp>
        <p:nvSpPr>
          <p:cNvPr id="36" name="Text 28"/>
          <p:cNvSpPr/>
          <p:nvPr/>
        </p:nvSpPr>
        <p:spPr>
          <a:xfrm>
            <a:off x="640080" y="5212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Collected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3026664" y="5518404"/>
            <a:ext cx="384048" cy="164592"/>
          </a:xfrm>
          <a:prstGeom prst="rightArrow">
            <a:avLst/>
          </a:prstGeom>
          <a:solidFill>
            <a:srgbClr val="1F4E9C"/>
          </a:solidFill>
          <a:ln/>
        </p:spPr>
      </p:sp>
      <p:sp>
        <p:nvSpPr>
          <p:cNvPr id="38" name="Shape 30"/>
          <p:cNvSpPr/>
          <p:nvPr/>
        </p:nvSpPr>
        <p:spPr>
          <a:xfrm>
            <a:off x="3474720" y="52120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EAF1FC"/>
          </a:solidFill>
          <a:ln/>
        </p:spPr>
      </p:sp>
      <p:sp>
        <p:nvSpPr>
          <p:cNvPr id="39" name="Text 31"/>
          <p:cNvSpPr/>
          <p:nvPr/>
        </p:nvSpPr>
        <p:spPr>
          <a:xfrm>
            <a:off x="3474720" y="5212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</a:t>
            </a:r>
            <a:endParaRPr 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5861304" y="5518404"/>
            <a:ext cx="384048" cy="164592"/>
          </a:xfrm>
          <a:prstGeom prst="rightArrow">
            <a:avLst/>
          </a:prstGeom>
          <a:solidFill>
            <a:srgbClr val="1F4E9C"/>
          </a:solidFill>
          <a:ln/>
        </p:spPr>
      </p:sp>
      <p:sp>
        <p:nvSpPr>
          <p:cNvPr id="41" name="Shape 33"/>
          <p:cNvSpPr/>
          <p:nvPr/>
        </p:nvSpPr>
        <p:spPr>
          <a:xfrm>
            <a:off x="6309360" y="52120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EAF1FC"/>
          </a:solidFill>
          <a:ln/>
        </p:spPr>
      </p:sp>
      <p:sp>
        <p:nvSpPr>
          <p:cNvPr id="42" name="Text 34"/>
          <p:cNvSpPr/>
          <p:nvPr/>
        </p:nvSpPr>
        <p:spPr>
          <a:xfrm>
            <a:off x="6309360" y="5212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3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Scoring</a:t>
            </a:r>
            <a:endParaRPr lang="en-US" sz="1250" dirty="0"/>
          </a:p>
        </p:txBody>
      </p:sp>
      <p:sp>
        <p:nvSpPr>
          <p:cNvPr id="43" name="Shape 35"/>
          <p:cNvSpPr/>
          <p:nvPr/>
        </p:nvSpPr>
        <p:spPr>
          <a:xfrm>
            <a:off x="8695944" y="5518404"/>
            <a:ext cx="384048" cy="164592"/>
          </a:xfrm>
          <a:prstGeom prst="rightArrow">
            <a:avLst/>
          </a:prstGeom>
          <a:solidFill>
            <a:srgbClr val="1F4E9C"/>
          </a:solidFill>
          <a:ln/>
        </p:spPr>
      </p:sp>
      <p:sp>
        <p:nvSpPr>
          <p:cNvPr id="44" name="Shape 36"/>
          <p:cNvSpPr/>
          <p:nvPr/>
        </p:nvSpPr>
        <p:spPr>
          <a:xfrm>
            <a:off x="9144000" y="52120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F4E9C"/>
          </a:solidFill>
          <a:ln/>
        </p:spPr>
      </p:sp>
      <p:sp>
        <p:nvSpPr>
          <p:cNvPr id="45" name="Text 37"/>
          <p:cNvSpPr/>
          <p:nvPr/>
        </p:nvSpPr>
        <p:spPr>
          <a:xfrm>
            <a:off x="9144000" y="5212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Dashboard</a:t>
            </a:r>
            <a:endParaRPr lang="en-US" sz="1250" dirty="0"/>
          </a:p>
        </p:txBody>
      </p:sp>
      <p:sp>
        <p:nvSpPr>
          <p:cNvPr id="47" name="Text 3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49" name="Picture 48" descr="Globe logo design 46007941 Vector Art at Vecteezy">
            <a:extLst>
              <a:ext uri="{FF2B5EF4-FFF2-40B4-BE49-F238E27FC236}">
                <a16:creationId xmlns:a16="http://schemas.microsoft.com/office/drawing/2014/main" id="{3167C1A4-235C-29C7-864F-824F9BE4D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930" y="1580636"/>
            <a:ext cx="542049" cy="542049"/>
          </a:xfrm>
          <a:prstGeom prst="rect">
            <a:avLst/>
          </a:prstGeom>
        </p:spPr>
      </p:pic>
      <p:pic>
        <p:nvPicPr>
          <p:cNvPr id="50" name="Picture 49" descr="149,600+ News Logo Stock Illustrations, Royalty-Free Vector ...">
            <a:extLst>
              <a:ext uri="{FF2B5EF4-FFF2-40B4-BE49-F238E27FC236}">
                <a16:creationId xmlns:a16="http://schemas.microsoft.com/office/drawing/2014/main" id="{CB160789-B95E-73C1-67FC-990B671517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9486" y="1592571"/>
            <a:ext cx="574700" cy="574700"/>
          </a:xfrm>
          <a:prstGeom prst="rect">
            <a:avLst/>
          </a:prstGeom>
        </p:spPr>
      </p:pic>
      <p:pic>
        <p:nvPicPr>
          <p:cNvPr id="51" name="Picture 50" descr="Url - Free files and folders icons">
            <a:extLst>
              <a:ext uri="{FF2B5EF4-FFF2-40B4-BE49-F238E27FC236}">
                <a16:creationId xmlns:a16="http://schemas.microsoft.com/office/drawing/2014/main" id="{B3A105C8-571D-2E1C-E79C-1714062A38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0041" y="3154680"/>
            <a:ext cx="684145" cy="562519"/>
          </a:xfrm>
          <a:prstGeom prst="rect">
            <a:avLst/>
          </a:prstGeom>
        </p:spPr>
      </p:pic>
      <p:pic>
        <p:nvPicPr>
          <p:cNvPr id="52" name="Picture 51" descr="Robo Logo icons for free download | Freepik">
            <a:extLst>
              <a:ext uri="{FF2B5EF4-FFF2-40B4-BE49-F238E27FC236}">
                <a16:creationId xmlns:a16="http://schemas.microsoft.com/office/drawing/2014/main" id="{A28B6742-A56B-E1BF-A18C-3CC8756C90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055" y="3224076"/>
            <a:ext cx="566730" cy="566730"/>
          </a:xfrm>
          <a:prstGeom prst="rect">
            <a:avLst/>
          </a:prstGeom>
        </p:spPr>
      </p:pic>
      <p:pic>
        <p:nvPicPr>
          <p:cNvPr id="53" name="Picture 52" descr="445,895 Regions Icons Royalty-Free Images, Stock Photos ...">
            <a:extLst>
              <a:ext uri="{FF2B5EF4-FFF2-40B4-BE49-F238E27FC236}">
                <a16:creationId xmlns:a16="http://schemas.microsoft.com/office/drawing/2014/main" id="{D33C8799-3DD3-8D4D-7D41-3AA95B4778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79" y="1660711"/>
            <a:ext cx="538220" cy="506560"/>
          </a:xfrm>
          <a:prstGeom prst="rect">
            <a:avLst/>
          </a:prstGeom>
        </p:spPr>
      </p:pic>
      <p:pic>
        <p:nvPicPr>
          <p:cNvPr id="54" name="Picture 53" descr="Confidence level Images - Free Download on Magnific ...">
            <a:extLst>
              <a:ext uri="{FF2B5EF4-FFF2-40B4-BE49-F238E27FC236}">
                <a16:creationId xmlns:a16="http://schemas.microsoft.com/office/drawing/2014/main" id="{08D4CB6A-F85B-12F4-0A52-946883F2B5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7482" y="3166334"/>
            <a:ext cx="895814" cy="5240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 from news sources to the interactive dashboard</a:t>
            </a:r>
            <a:endParaRPr lang="en-US" sz="1250" dirty="0"/>
          </a:p>
        </p:txBody>
      </p:sp>
      <p:sp>
        <p:nvSpPr>
          <p:cNvPr id="57" name="Text 4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7A42E974-ACD1-BF1A-F540-50DEAA08D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9344"/>
            <a:ext cx="12057529" cy="4431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execution timeline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6065" y="1707866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75719" y="2581925"/>
            <a:ext cx="91440" cy="91440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9" name="Text 7"/>
          <p:cNvSpPr/>
          <p:nvPr/>
        </p:nvSpPr>
        <p:spPr>
          <a:xfrm>
            <a:off x="1241253" y="2421519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70744" y="2969738"/>
            <a:ext cx="91440" cy="91440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2790982"/>
            <a:ext cx="2560320" cy="47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3397400"/>
            <a:ext cx="91440" cy="91440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3298432"/>
            <a:ext cx="2560320" cy="392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59936" y="2807208"/>
            <a:ext cx="292608" cy="237744"/>
          </a:xfrm>
          <a:prstGeom prst="rightArrow">
            <a:avLst/>
          </a:prstGeom>
          <a:solidFill>
            <a:srgbClr val="1F4E9C"/>
          </a:solidFill>
          <a:ln/>
        </p:spPr>
      </p:sp>
      <p:sp>
        <p:nvSpPr>
          <p:cNvPr id="15" name="Shape 13"/>
          <p:cNvSpPr/>
          <p:nvPr/>
        </p:nvSpPr>
        <p:spPr>
          <a:xfrm>
            <a:off x="4357116" y="1652554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Shape 14"/>
          <p:cNvSpPr/>
          <p:nvPr/>
        </p:nvSpPr>
        <p:spPr>
          <a:xfrm>
            <a:off x="4663440" y="1874520"/>
            <a:ext cx="548640" cy="548640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4924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60119" y="3916546"/>
            <a:ext cx="91440" cy="91440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20" name="Text 18"/>
          <p:cNvSpPr/>
          <p:nvPr/>
        </p:nvSpPr>
        <p:spPr>
          <a:xfrm>
            <a:off x="1170432" y="3803905"/>
            <a:ext cx="2560320" cy="35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13732" y="2924018"/>
            <a:ext cx="91440" cy="91440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27066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Integration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9232" y="3554932"/>
            <a:ext cx="91440" cy="91440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3397400"/>
            <a:ext cx="2560320" cy="406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08976" y="2807208"/>
            <a:ext cx="292608" cy="237744"/>
          </a:xfrm>
          <a:prstGeom prst="rightArrow">
            <a:avLst/>
          </a:prstGeom>
          <a:solidFill>
            <a:srgbClr val="1F4E9C"/>
          </a:solidFill>
          <a:ln/>
        </p:spPr>
      </p:sp>
      <p:sp>
        <p:nvSpPr>
          <p:cNvPr id="26" name="Shape 24"/>
          <p:cNvSpPr/>
          <p:nvPr/>
        </p:nvSpPr>
        <p:spPr>
          <a:xfrm>
            <a:off x="8183880" y="1840068"/>
            <a:ext cx="3383280" cy="2651760"/>
          </a:xfrm>
          <a:prstGeom prst="roundRect">
            <a:avLst>
              <a:gd name="adj" fmla="val 3448"/>
            </a:avLst>
          </a:prstGeom>
          <a:solidFill>
            <a:srgbClr val="F5F7FA"/>
          </a:solidFill>
          <a:ln/>
        </p:spPr>
      </p:sp>
      <p:sp>
        <p:nvSpPr>
          <p:cNvPr id="27" name="Shape 25"/>
          <p:cNvSpPr/>
          <p:nvPr/>
        </p:nvSpPr>
        <p:spPr>
          <a:xfrm>
            <a:off x="8412480" y="1874520"/>
            <a:ext cx="548640" cy="548640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09828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458200" y="2706624"/>
            <a:ext cx="91440" cy="91440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0" y="25237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Engine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458200" y="3209544"/>
            <a:ext cx="91440" cy="91440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33" name="Text 31"/>
          <p:cNvSpPr/>
          <p:nvPr/>
        </p:nvSpPr>
        <p:spPr>
          <a:xfrm>
            <a:off x="8755380" y="36145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</a:p>
        </p:txBody>
      </p:sp>
      <p:sp>
        <p:nvSpPr>
          <p:cNvPr id="34" name="Shape 32"/>
          <p:cNvSpPr/>
          <p:nvPr/>
        </p:nvSpPr>
        <p:spPr>
          <a:xfrm>
            <a:off x="8458200" y="3712464"/>
            <a:ext cx="91440" cy="91440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35" name="Text 33"/>
          <p:cNvSpPr/>
          <p:nvPr/>
        </p:nvSpPr>
        <p:spPr>
          <a:xfrm>
            <a:off x="8755380" y="3035808"/>
            <a:ext cx="25603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4736592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5316B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4727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C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DELIVERABLES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1414024" y="5001768"/>
            <a:ext cx="2095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4526280" y="5074920"/>
            <a:ext cx="365760" cy="365760"/>
          </a:xfrm>
          <a:prstGeom prst="ellipse">
            <a:avLst/>
          </a:prstGeom>
          <a:solidFill>
            <a:srgbClr val="1F4E9C"/>
          </a:solidFill>
          <a:ln/>
        </p:spPr>
      </p:sp>
      <p:pic>
        <p:nvPicPr>
          <p:cNvPr id="42" name="Image 1" descr="/home/claude/capston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378" y="5170018"/>
            <a:ext cx="175565" cy="175565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4983480" y="50017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News Pipeline</a:t>
            </a:r>
            <a:endParaRPr lang="en-US" sz="1250" dirty="0"/>
          </a:p>
        </p:txBody>
      </p:sp>
      <p:sp>
        <p:nvSpPr>
          <p:cNvPr id="44" name="Shape 40"/>
          <p:cNvSpPr/>
          <p:nvPr/>
        </p:nvSpPr>
        <p:spPr>
          <a:xfrm>
            <a:off x="8183880" y="5074920"/>
            <a:ext cx="365760" cy="365760"/>
          </a:xfrm>
          <a:prstGeom prst="ellipse">
            <a:avLst/>
          </a:prstGeom>
          <a:solidFill>
            <a:srgbClr val="1F4E9C"/>
          </a:solidFill>
          <a:ln/>
        </p:spPr>
      </p:sp>
      <p:pic>
        <p:nvPicPr>
          <p:cNvPr id="45" name="Image 2" descr="/home/claude/capston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5170018"/>
            <a:ext cx="175565" cy="175565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8641080" y="50017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Regional Projection</a:t>
            </a:r>
            <a:endParaRPr lang="en-US" sz="1250" dirty="0"/>
          </a:p>
        </p:txBody>
      </p:sp>
      <p:sp>
        <p:nvSpPr>
          <p:cNvPr id="48" name="Text 4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50" name="Picture 49" descr="Globe logo design 46007941 Vector Art at Vecteezy">
            <a:extLst>
              <a:ext uri="{FF2B5EF4-FFF2-40B4-BE49-F238E27FC236}">
                <a16:creationId xmlns:a16="http://schemas.microsoft.com/office/drawing/2014/main" id="{537C91F3-064A-B9F8-F763-10F1B345E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35" y="5035791"/>
            <a:ext cx="542049" cy="542049"/>
          </a:xfrm>
          <a:prstGeom prst="rect">
            <a:avLst/>
          </a:prstGeom>
        </p:spPr>
      </p:pic>
      <p:pic>
        <p:nvPicPr>
          <p:cNvPr id="52" name="Picture 51" descr="149,600+ News Logo Stock Illustrations, Royalty-Free Vector ...">
            <a:extLst>
              <a:ext uri="{FF2B5EF4-FFF2-40B4-BE49-F238E27FC236}">
                <a16:creationId xmlns:a16="http://schemas.microsoft.com/office/drawing/2014/main" id="{D3CC738A-EB06-9DBC-8BCE-28859E8592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4966564"/>
            <a:ext cx="574700" cy="574700"/>
          </a:xfrm>
          <a:prstGeom prst="rect">
            <a:avLst/>
          </a:prstGeom>
        </p:spPr>
      </p:pic>
      <p:pic>
        <p:nvPicPr>
          <p:cNvPr id="53" name="Picture 52" descr="Download Free Reference Icons in PNG &amp; SVG | Magnific ...">
            <a:extLst>
              <a:ext uri="{FF2B5EF4-FFF2-40B4-BE49-F238E27FC236}">
                <a16:creationId xmlns:a16="http://schemas.microsoft.com/office/drawing/2014/main" id="{4F81AC39-D9D4-DF2E-E150-50FC0DFB9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1015" y="4917755"/>
            <a:ext cx="648323" cy="6439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914400"/>
            <a:ext cx="3200400" cy="3200400"/>
          </a:xfrm>
          <a:prstGeom prst="ellipse">
            <a:avLst/>
          </a:prstGeom>
          <a:solidFill>
            <a:srgbClr val="1F4E9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2926080" cy="2926080"/>
          </a:xfrm>
          <a:prstGeom prst="ellipse">
            <a:avLst/>
          </a:prstGeom>
          <a:solidFill>
            <a:srgbClr val="1F4E9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64592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60120" y="2537460"/>
            <a:ext cx="109728" cy="109728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25856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view government market values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960120" y="3221343"/>
            <a:ext cx="109728" cy="109728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294436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understand development impact on regions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60120" y="3895344"/>
            <a:ext cx="109728" cy="109728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363016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projection links to supporting news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60120" y="4544568"/>
            <a:ext cx="109728" cy="109728"/>
          </a:xfrm>
          <a:prstGeom prst="ellipse">
            <a:avLst/>
          </a:prstGeom>
          <a:solidFill>
            <a:srgbClr val="1F4E9C"/>
          </a:solidFill>
          <a:ln/>
        </p:spPr>
      </p:sp>
      <p:sp>
        <p:nvSpPr>
          <p:cNvPr id="16" name="Text 13"/>
          <p:cNvSpPr/>
          <p:nvPr/>
        </p:nvSpPr>
        <p:spPr>
          <a:xfrm>
            <a:off x="1188720" y="4315968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world map for exploration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080760" y="123444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1F4E9C"/>
          </a:solidFill>
          <a:ln/>
        </p:spPr>
      </p:sp>
      <p:sp>
        <p:nvSpPr>
          <p:cNvPr id="20" name="Text 16"/>
          <p:cNvSpPr/>
          <p:nvPr/>
        </p:nvSpPr>
        <p:spPr>
          <a:xfrm>
            <a:off x="708660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6400800" y="2386584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18"/>
          <p:cNvSpPr/>
          <p:nvPr/>
        </p:nvSpPr>
        <p:spPr>
          <a:xfrm>
            <a:off x="6629400" y="22585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all states in India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6400800" y="2953512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0"/>
          <p:cNvSpPr/>
          <p:nvPr/>
        </p:nvSpPr>
        <p:spPr>
          <a:xfrm>
            <a:off x="6629400" y="28254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feature for tracked regions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6400800" y="352044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2"/>
          <p:cNvSpPr/>
          <p:nvPr/>
        </p:nvSpPr>
        <p:spPr>
          <a:xfrm>
            <a:off x="6629400" y="33924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 analysis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6400800" y="4087368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4"/>
          <p:cNvSpPr/>
          <p:nvPr/>
        </p:nvSpPr>
        <p:spPr>
          <a:xfrm>
            <a:off x="6629400" y="39593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government datasets</a:t>
            </a:r>
            <a:endParaRPr lang="en-US" sz="1350" dirty="0"/>
          </a:p>
        </p:txBody>
      </p:sp>
      <p:sp>
        <p:nvSpPr>
          <p:cNvPr id="29" name="Shape 25"/>
          <p:cNvSpPr/>
          <p:nvPr/>
        </p:nvSpPr>
        <p:spPr>
          <a:xfrm>
            <a:off x="6400800" y="465429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6"/>
          <p:cNvSpPr/>
          <p:nvPr/>
        </p:nvSpPr>
        <p:spPr>
          <a:xfrm>
            <a:off x="6629400" y="4526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64008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64008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250" dirty="0"/>
          </a:p>
        </p:txBody>
      </p:sp>
      <p:pic>
        <p:nvPicPr>
          <p:cNvPr id="34" name="Picture 33" descr="Software Development - Free seo and web icons">
            <a:extLst>
              <a:ext uri="{FF2B5EF4-FFF2-40B4-BE49-F238E27FC236}">
                <a16:creationId xmlns:a16="http://schemas.microsoft.com/office/drawing/2014/main" id="{F5DF5570-E5E5-7F03-E8DE-D4215E8EE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874" y="1488591"/>
            <a:ext cx="680417" cy="680417"/>
          </a:xfrm>
          <a:prstGeom prst="rect">
            <a:avLst/>
          </a:prstGeom>
        </p:spPr>
      </p:pic>
      <p:pic>
        <p:nvPicPr>
          <p:cNvPr id="35" name="Picture 34" descr="Outcomes - Free icons">
            <a:extLst>
              <a:ext uri="{FF2B5EF4-FFF2-40B4-BE49-F238E27FC236}">
                <a16:creationId xmlns:a16="http://schemas.microsoft.com/office/drawing/2014/main" id="{8DC5D80B-7A17-A100-162D-9875C9F1E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997" y="1414370"/>
            <a:ext cx="766474" cy="7664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376</Words>
  <Application>Microsoft Office PowerPoint</Application>
  <PresentationFormat>Widescreen</PresentationFormat>
  <Paragraphs>95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vignesh R.</cp:lastModifiedBy>
  <cp:revision>5</cp:revision>
  <cp:lastPrinted>2026-08-03T06:21:08Z</cp:lastPrinted>
  <dcterms:created xsi:type="dcterms:W3CDTF">2026-07-29T18:35:59Z</dcterms:created>
  <dcterms:modified xsi:type="dcterms:W3CDTF">2026-08-04T08:03:15Z</dcterms:modified>
</cp:coreProperties>
</file>