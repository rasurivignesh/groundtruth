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488300-5828-4A20-BDCA-0D0DDD7681FB}" v="3" dt="2026-08-27T01:21:01.7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388" autoAdjust="0"/>
  </p:normalViewPr>
  <p:slideViewPr>
    <p:cSldViewPr snapToGrid="0" snapToObjects="1">
      <p:cViewPr varScale="1">
        <p:scale>
          <a:sx n="113" d="100"/>
          <a:sy n="113" d="100"/>
        </p:scale>
        <p:origin x="51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gnesh R." userId="3f15f9a396fc35b9" providerId="LiveId" clId="{6941BDCE-4BCE-4AE4-A60A-E43D3EB2C28B}"/>
    <pc:docChg chg="undo custSel delSld modSld">
      <pc:chgData name="vignesh R." userId="3f15f9a396fc35b9" providerId="LiveId" clId="{6941BDCE-4BCE-4AE4-A60A-E43D3EB2C28B}" dt="2026-08-27T01:21:01.735" v="87"/>
      <pc:docMkLst>
        <pc:docMk/>
      </pc:docMkLst>
      <pc:sldChg chg="addSp delSp modSp mod">
        <pc:chgData name="vignesh R." userId="3f15f9a396fc35b9" providerId="LiveId" clId="{6941BDCE-4BCE-4AE4-A60A-E43D3EB2C28B}" dt="2026-08-27T01:21:01.735" v="87"/>
        <pc:sldMkLst>
          <pc:docMk/>
          <pc:sldMk cId="0" sldId="256"/>
        </pc:sldMkLst>
        <pc:spChg chg="del">
          <ac:chgData name="vignesh R." userId="3f15f9a396fc35b9" providerId="LiveId" clId="{6941BDCE-4BCE-4AE4-A60A-E43D3EB2C28B}" dt="2026-08-26T07:29:00.724" v="18" actId="478"/>
          <ac:spMkLst>
            <pc:docMk/>
            <pc:sldMk cId="0" sldId="256"/>
            <ac:spMk id="8" creationId="{00000000-0000-0000-0000-000000000000}"/>
          </ac:spMkLst>
        </pc:spChg>
        <pc:spChg chg="add del mod">
          <ac:chgData name="vignesh R." userId="3f15f9a396fc35b9" providerId="LiveId" clId="{6941BDCE-4BCE-4AE4-A60A-E43D3EB2C28B}" dt="2026-08-27T01:16:58.895" v="74"/>
          <ac:spMkLst>
            <pc:docMk/>
            <pc:sldMk cId="0" sldId="256"/>
            <ac:spMk id="8" creationId="{CFDF24E3-386A-7B40-C862-7A0A2FF7BBD5}"/>
          </ac:spMkLst>
        </pc:spChg>
        <pc:spChg chg="add del">
          <ac:chgData name="vignesh R." userId="3f15f9a396fc35b9" providerId="LiveId" clId="{6941BDCE-4BCE-4AE4-A60A-E43D3EB2C28B}" dt="2026-08-27T01:16:33.232" v="67" actId="478"/>
          <ac:spMkLst>
            <pc:docMk/>
            <pc:sldMk cId="0" sldId="256"/>
            <ac:spMk id="9" creationId="{00000000-0000-0000-0000-000000000000}"/>
          </ac:spMkLst>
        </pc:spChg>
        <pc:spChg chg="del">
          <ac:chgData name="vignesh R." userId="3f15f9a396fc35b9" providerId="LiveId" clId="{6941BDCE-4BCE-4AE4-A60A-E43D3EB2C28B}" dt="2026-08-27T01:16:34.550" v="68" actId="478"/>
          <ac:spMkLst>
            <pc:docMk/>
            <pc:sldMk cId="0" sldId="256"/>
            <ac:spMk id="10" creationId="{00000000-0000-0000-0000-000000000000}"/>
          </ac:spMkLst>
        </pc:spChg>
        <pc:spChg chg="mod">
          <ac:chgData name="vignesh R." userId="3f15f9a396fc35b9" providerId="LiveId" clId="{6941BDCE-4BCE-4AE4-A60A-E43D3EB2C28B}" dt="2026-08-27T01:17:57.190" v="81" actId="1076"/>
          <ac:spMkLst>
            <pc:docMk/>
            <pc:sldMk cId="0" sldId="256"/>
            <ac:spMk id="11" creationId="{00000000-0000-0000-0000-000000000000}"/>
          </ac:spMkLst>
        </pc:spChg>
        <pc:spChg chg="add del mod">
          <ac:chgData name="vignesh R." userId="3f15f9a396fc35b9" providerId="LiveId" clId="{6941BDCE-4BCE-4AE4-A60A-E43D3EB2C28B}" dt="2026-08-27T01:17:26.459" v="79"/>
          <ac:spMkLst>
            <pc:docMk/>
            <pc:sldMk cId="0" sldId="256"/>
            <ac:spMk id="12" creationId="{86393042-22FF-1FA1-A6CC-DFA5EF0FFCAF}"/>
          </ac:spMkLst>
        </pc:spChg>
        <pc:spChg chg="add mod">
          <ac:chgData name="vignesh R." userId="3f15f9a396fc35b9" providerId="LiveId" clId="{6941BDCE-4BCE-4AE4-A60A-E43D3EB2C28B}" dt="2026-08-27T01:17:57.190" v="81" actId="1076"/>
          <ac:spMkLst>
            <pc:docMk/>
            <pc:sldMk cId="0" sldId="256"/>
            <ac:spMk id="17" creationId="{CFD5949D-B9F8-35B1-CF6A-E7CF21DA9C09}"/>
          </ac:spMkLst>
        </pc:spChg>
        <pc:spChg chg="add mod">
          <ac:chgData name="vignesh R." userId="3f15f9a396fc35b9" providerId="LiveId" clId="{6941BDCE-4BCE-4AE4-A60A-E43D3EB2C28B}" dt="2026-08-27T01:17:57.190" v="81" actId="1076"/>
          <ac:spMkLst>
            <pc:docMk/>
            <pc:sldMk cId="0" sldId="256"/>
            <ac:spMk id="19" creationId="{1796F95C-24AC-C3CA-FAEF-B6DE2185A170}"/>
          </ac:spMkLst>
        </pc:spChg>
        <pc:spChg chg="add mod">
          <ac:chgData name="vignesh R." userId="3f15f9a396fc35b9" providerId="LiveId" clId="{6941BDCE-4BCE-4AE4-A60A-E43D3EB2C28B}" dt="2026-08-27T01:17:57.190" v="81" actId="1076"/>
          <ac:spMkLst>
            <pc:docMk/>
            <pc:sldMk cId="0" sldId="256"/>
            <ac:spMk id="21" creationId="{33505DBA-B78F-B5AA-E128-B349E24DBEAA}"/>
          </ac:spMkLst>
        </pc:spChg>
        <pc:spChg chg="add mod">
          <ac:chgData name="vignesh R." userId="3f15f9a396fc35b9" providerId="LiveId" clId="{6941BDCE-4BCE-4AE4-A60A-E43D3EB2C28B}" dt="2026-08-27T01:17:57.190" v="81" actId="1076"/>
          <ac:spMkLst>
            <pc:docMk/>
            <pc:sldMk cId="0" sldId="256"/>
            <ac:spMk id="23" creationId="{7FBA6A19-575F-0FA3-56AB-8C6728CA8B8D}"/>
          </ac:spMkLst>
        </pc:spChg>
        <pc:spChg chg="add mod">
          <ac:chgData name="vignesh R." userId="3f15f9a396fc35b9" providerId="LiveId" clId="{6941BDCE-4BCE-4AE4-A60A-E43D3EB2C28B}" dt="2026-08-27T01:17:57.190" v="81" actId="1076"/>
          <ac:spMkLst>
            <pc:docMk/>
            <pc:sldMk cId="0" sldId="256"/>
            <ac:spMk id="25" creationId="{2B2725AB-7E39-E53E-E837-BEBD38A97055}"/>
          </ac:spMkLst>
        </pc:spChg>
        <pc:spChg chg="add mod">
          <ac:chgData name="vignesh R." userId="3f15f9a396fc35b9" providerId="LiveId" clId="{6941BDCE-4BCE-4AE4-A60A-E43D3EB2C28B}" dt="2026-08-27T01:17:57.190" v="81" actId="1076"/>
          <ac:spMkLst>
            <pc:docMk/>
            <pc:sldMk cId="0" sldId="256"/>
            <ac:spMk id="27" creationId="{59AD4BB7-F7F3-0B0E-D5C7-BE5214664702}"/>
          </ac:spMkLst>
        </pc:spChg>
        <pc:spChg chg="add mod">
          <ac:chgData name="vignesh R." userId="3f15f9a396fc35b9" providerId="LiveId" clId="{6941BDCE-4BCE-4AE4-A60A-E43D3EB2C28B}" dt="2026-08-27T01:17:57.190" v="81" actId="1076"/>
          <ac:spMkLst>
            <pc:docMk/>
            <pc:sldMk cId="0" sldId="256"/>
            <ac:spMk id="29" creationId="{6A8A0B36-97C9-4961-AAAD-D99BE3666D8A}"/>
          </ac:spMkLst>
        </pc:spChg>
        <pc:spChg chg="add del">
          <ac:chgData name="vignesh R." userId="3f15f9a396fc35b9" providerId="LiveId" clId="{6941BDCE-4BCE-4AE4-A60A-E43D3EB2C28B}" dt="2026-08-26T07:55:05.212" v="64" actId="22"/>
          <ac:spMkLst>
            <pc:docMk/>
            <pc:sldMk cId="0" sldId="256"/>
            <ac:spMk id="31" creationId="{E716A5C9-4F03-F335-2395-B1885E801F31}"/>
          </ac:spMkLst>
        </pc:spChg>
        <pc:spChg chg="add del">
          <ac:chgData name="vignesh R." userId="3f15f9a396fc35b9" providerId="LiveId" clId="{6941BDCE-4BCE-4AE4-A60A-E43D3EB2C28B}" dt="2026-08-26T07:55:05.212" v="64" actId="22"/>
          <ac:spMkLst>
            <pc:docMk/>
            <pc:sldMk cId="0" sldId="256"/>
            <ac:spMk id="33" creationId="{8A63014F-8B6C-5C26-7226-2401AFC660D8}"/>
          </ac:spMkLst>
        </pc:spChg>
        <pc:spChg chg="add del">
          <ac:chgData name="vignesh R." userId="3f15f9a396fc35b9" providerId="LiveId" clId="{6941BDCE-4BCE-4AE4-A60A-E43D3EB2C28B}" dt="2026-08-26T07:55:05.212" v="64" actId="22"/>
          <ac:spMkLst>
            <pc:docMk/>
            <pc:sldMk cId="0" sldId="256"/>
            <ac:spMk id="35" creationId="{80F64AE8-705A-2A99-8A1A-0D5BE75A791F}"/>
          </ac:spMkLst>
        </pc:spChg>
        <pc:spChg chg="add mod">
          <ac:chgData name="vignesh R." userId="3f15f9a396fc35b9" providerId="LiveId" clId="{6941BDCE-4BCE-4AE4-A60A-E43D3EB2C28B}" dt="2026-08-27T01:19:13.657" v="86" actId="1076"/>
          <ac:spMkLst>
            <pc:docMk/>
            <pc:sldMk cId="0" sldId="256"/>
            <ac:spMk id="37" creationId="{C92D59D1-A6C7-ABB8-8CA0-6B6CFB6C80E7}"/>
          </ac:spMkLst>
        </pc:spChg>
        <pc:spChg chg="add mod">
          <ac:chgData name="vignesh R." userId="3f15f9a396fc35b9" providerId="LiveId" clId="{6941BDCE-4BCE-4AE4-A60A-E43D3EB2C28B}" dt="2026-08-27T01:18:49.917" v="85" actId="1076"/>
          <ac:spMkLst>
            <pc:docMk/>
            <pc:sldMk cId="0" sldId="256"/>
            <ac:spMk id="39" creationId="{7F8BB7B8-F3B8-2E21-F361-FA8859B446C4}"/>
          </ac:spMkLst>
        </pc:spChg>
        <pc:spChg chg="add mod">
          <ac:chgData name="vignesh R." userId="3f15f9a396fc35b9" providerId="LiveId" clId="{6941BDCE-4BCE-4AE4-A60A-E43D3EB2C28B}" dt="2026-08-27T01:21:01.735" v="87"/>
          <ac:spMkLst>
            <pc:docMk/>
            <pc:sldMk cId="0" sldId="256"/>
            <ac:spMk id="41" creationId="{647A7319-F8FB-7E48-4DA6-9A7885E7A210}"/>
          </ac:spMkLst>
        </pc:spChg>
        <pc:picChg chg="add del mod">
          <ac:chgData name="vignesh R." userId="3f15f9a396fc35b9" providerId="LiveId" clId="{6941BDCE-4BCE-4AE4-A60A-E43D3EB2C28B}" dt="2026-08-27T01:18:07.079" v="82" actId="1076"/>
          <ac:picMkLst>
            <pc:docMk/>
            <pc:sldMk cId="0" sldId="256"/>
            <ac:picMk id="2" creationId="{00000000-0000-0000-0000-000000000000}"/>
          </ac:picMkLst>
        </pc:picChg>
        <pc:picChg chg="add del mod">
          <ac:chgData name="vignesh R." userId="3f15f9a396fc35b9" providerId="LiveId" clId="{6941BDCE-4BCE-4AE4-A60A-E43D3EB2C28B}" dt="2026-08-26T07:28:34.749" v="9" actId="22"/>
          <ac:picMkLst>
            <pc:docMk/>
            <pc:sldMk cId="0" sldId="256"/>
            <ac:picMk id="13" creationId="{7C052543-68CE-A76A-A587-A7B93E5BD923}"/>
          </ac:picMkLst>
        </pc:picChg>
        <pc:picChg chg="add mod">
          <ac:chgData name="vignesh R." userId="3f15f9a396fc35b9" providerId="LiveId" clId="{6941BDCE-4BCE-4AE4-A60A-E43D3EB2C28B}" dt="2026-08-27T01:16:46.638" v="71" actId="1076"/>
          <ac:picMkLst>
            <pc:docMk/>
            <pc:sldMk cId="0" sldId="256"/>
            <ac:picMk id="15" creationId="{E4961BD8-3993-8D65-8808-48E675945F5D}"/>
          </ac:picMkLst>
        </pc:picChg>
      </pc:sldChg>
      <pc:sldChg chg="modSp mod">
        <pc:chgData name="vignesh R." userId="3f15f9a396fc35b9" providerId="LiveId" clId="{6941BDCE-4BCE-4AE4-A60A-E43D3EB2C28B}" dt="2026-08-26T07:30:03.725" v="30" actId="1076"/>
        <pc:sldMkLst>
          <pc:docMk/>
          <pc:sldMk cId="0" sldId="257"/>
        </pc:sldMkLst>
        <pc:spChg chg="mod">
          <ac:chgData name="vignesh R." userId="3f15f9a396fc35b9" providerId="LiveId" clId="{6941BDCE-4BCE-4AE4-A60A-E43D3EB2C28B}" dt="2026-08-26T07:29:42.255" v="27" actId="107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vignesh R." userId="3f15f9a396fc35b9" providerId="LiveId" clId="{6941BDCE-4BCE-4AE4-A60A-E43D3EB2C28B}" dt="2026-08-26T07:29:50.882" v="28" actId="107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vignesh R." userId="3f15f9a396fc35b9" providerId="LiveId" clId="{6941BDCE-4BCE-4AE4-A60A-E43D3EB2C28B}" dt="2026-08-26T07:29:56.599" v="29" actId="107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vignesh R." userId="3f15f9a396fc35b9" providerId="LiveId" clId="{6941BDCE-4BCE-4AE4-A60A-E43D3EB2C28B}" dt="2026-08-26T07:30:03.725" v="30" actId="1076"/>
          <ac:spMkLst>
            <pc:docMk/>
            <pc:sldMk cId="0" sldId="257"/>
            <ac:spMk id="22" creationId="{00000000-0000-0000-0000-000000000000}"/>
          </ac:spMkLst>
        </pc:spChg>
      </pc:sldChg>
      <pc:sldChg chg="addSp delSp modSp mod">
        <pc:chgData name="vignesh R." userId="3f15f9a396fc35b9" providerId="LiveId" clId="{6941BDCE-4BCE-4AE4-A60A-E43D3EB2C28B}" dt="2026-08-26T07:49:59.858" v="46" actId="1076"/>
        <pc:sldMkLst>
          <pc:docMk/>
          <pc:sldMk cId="0" sldId="258"/>
        </pc:sldMkLst>
        <pc:spChg chg="mod">
          <ac:chgData name="vignesh R." userId="3f15f9a396fc35b9" providerId="LiveId" clId="{6941BDCE-4BCE-4AE4-A60A-E43D3EB2C28B}" dt="2026-08-26T07:42:12.969" v="31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vignesh R." userId="3f15f9a396fc35b9" providerId="LiveId" clId="{6941BDCE-4BCE-4AE4-A60A-E43D3EB2C28B}" dt="2026-08-26T07:42:34.998" v="35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vignesh R." userId="3f15f9a396fc35b9" providerId="LiveId" clId="{6941BDCE-4BCE-4AE4-A60A-E43D3EB2C28B}" dt="2026-08-26T07:42:39.765" v="36" actId="107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vignesh R." userId="3f15f9a396fc35b9" providerId="LiveId" clId="{6941BDCE-4BCE-4AE4-A60A-E43D3EB2C28B}" dt="2026-08-26T07:42:46.425" v="37" actId="1076"/>
          <ac:spMkLst>
            <pc:docMk/>
            <pc:sldMk cId="0" sldId="258"/>
            <ac:spMk id="18" creationId="{00000000-0000-0000-0000-000000000000}"/>
          </ac:spMkLst>
        </pc:spChg>
        <pc:picChg chg="mod">
          <ac:chgData name="vignesh R." userId="3f15f9a396fc35b9" providerId="LiveId" clId="{6941BDCE-4BCE-4AE4-A60A-E43D3EB2C28B}" dt="2026-08-26T07:42:26.851" v="34" actId="1076"/>
          <ac:picMkLst>
            <pc:docMk/>
            <pc:sldMk cId="0" sldId="258"/>
            <ac:picMk id="2" creationId="{00000000-0000-0000-0000-000000000000}"/>
          </ac:picMkLst>
        </pc:picChg>
        <pc:picChg chg="del">
          <ac:chgData name="vignesh R." userId="3f15f9a396fc35b9" providerId="LiveId" clId="{6941BDCE-4BCE-4AE4-A60A-E43D3EB2C28B}" dt="2026-08-26T07:42:55.099" v="38" actId="478"/>
          <ac:picMkLst>
            <pc:docMk/>
            <pc:sldMk cId="0" sldId="258"/>
            <ac:picMk id="22" creationId="{00000000-0000-0000-0000-000000000000}"/>
          </ac:picMkLst>
        </pc:picChg>
        <pc:picChg chg="add mod">
          <ac:chgData name="vignesh R." userId="3f15f9a396fc35b9" providerId="LiveId" clId="{6941BDCE-4BCE-4AE4-A60A-E43D3EB2C28B}" dt="2026-08-26T07:49:59.858" v="46" actId="1076"/>
          <ac:picMkLst>
            <pc:docMk/>
            <pc:sldMk cId="0" sldId="258"/>
            <ac:picMk id="26" creationId="{168FF970-D0AF-5CF1-E660-FCBA34C83744}"/>
          </ac:picMkLst>
        </pc:picChg>
      </pc:sldChg>
      <pc:sldChg chg="modSp mod">
        <pc:chgData name="vignesh R." userId="3f15f9a396fc35b9" providerId="LiveId" clId="{6941BDCE-4BCE-4AE4-A60A-E43D3EB2C28B}" dt="2026-08-26T07:52:23.252" v="57" actId="20577"/>
        <pc:sldMkLst>
          <pc:docMk/>
          <pc:sldMk cId="0" sldId="261"/>
        </pc:sldMkLst>
        <pc:spChg chg="mod">
          <ac:chgData name="vignesh R." userId="3f15f9a396fc35b9" providerId="LiveId" clId="{6941BDCE-4BCE-4AE4-A60A-E43D3EB2C28B}" dt="2026-08-26T07:52:23.252" v="57" actId="20577"/>
          <ac:spMkLst>
            <pc:docMk/>
            <pc:sldMk cId="0" sldId="261"/>
            <ac:spMk id="4" creationId="{00000000-0000-0000-0000-000000000000}"/>
          </ac:spMkLst>
        </pc:spChg>
        <pc:spChg chg="mod">
          <ac:chgData name="vignesh R." userId="3f15f9a396fc35b9" providerId="LiveId" clId="{6941BDCE-4BCE-4AE4-A60A-E43D3EB2C28B}" dt="2026-08-26T07:50:22.407" v="47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vignesh R." userId="3f15f9a396fc35b9" providerId="LiveId" clId="{6941BDCE-4BCE-4AE4-A60A-E43D3EB2C28B}" dt="2026-08-26T07:50:23.730" v="48" actId="107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vignesh R." userId="3f15f9a396fc35b9" providerId="LiveId" clId="{6941BDCE-4BCE-4AE4-A60A-E43D3EB2C28B}" dt="2026-08-26T07:50:28.164" v="49" actId="1076"/>
          <ac:spMkLst>
            <pc:docMk/>
            <pc:sldMk cId="0" sldId="261"/>
            <ac:spMk id="16" creationId="{00000000-0000-0000-0000-000000000000}"/>
          </ac:spMkLst>
        </pc:spChg>
        <pc:spChg chg="mod">
          <ac:chgData name="vignesh R." userId="3f15f9a396fc35b9" providerId="LiveId" clId="{6941BDCE-4BCE-4AE4-A60A-E43D3EB2C28B}" dt="2026-08-26T07:50:31.922" v="50" actId="1076"/>
          <ac:spMkLst>
            <pc:docMk/>
            <pc:sldMk cId="0" sldId="261"/>
            <ac:spMk id="26" creationId="{00000000-0000-0000-0000-000000000000}"/>
          </ac:spMkLst>
        </pc:spChg>
      </pc:sldChg>
      <pc:sldChg chg="modSp mod">
        <pc:chgData name="vignesh R." userId="3f15f9a396fc35b9" providerId="LiveId" clId="{6941BDCE-4BCE-4AE4-A60A-E43D3EB2C28B}" dt="2026-08-26T07:51:11.152" v="55" actId="1076"/>
        <pc:sldMkLst>
          <pc:docMk/>
          <pc:sldMk cId="0" sldId="262"/>
        </pc:sldMkLst>
        <pc:spChg chg="mod">
          <ac:chgData name="vignesh R." userId="3f15f9a396fc35b9" providerId="LiveId" clId="{6941BDCE-4BCE-4AE4-A60A-E43D3EB2C28B}" dt="2026-08-26T07:50:55.608" v="51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vignesh R." userId="3f15f9a396fc35b9" providerId="LiveId" clId="{6941BDCE-4BCE-4AE4-A60A-E43D3EB2C28B}" dt="2026-08-26T07:51:00.262" v="52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vignesh R." userId="3f15f9a396fc35b9" providerId="LiveId" clId="{6941BDCE-4BCE-4AE4-A60A-E43D3EB2C28B}" dt="2026-08-26T07:51:03.460" v="53" actId="107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vignesh R." userId="3f15f9a396fc35b9" providerId="LiveId" clId="{6941BDCE-4BCE-4AE4-A60A-E43D3EB2C28B}" dt="2026-08-26T07:51:07.089" v="54" actId="107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vignesh R." userId="3f15f9a396fc35b9" providerId="LiveId" clId="{6941BDCE-4BCE-4AE4-A60A-E43D3EB2C28B}" dt="2026-08-26T07:51:11.152" v="55" actId="1076"/>
          <ac:spMkLst>
            <pc:docMk/>
            <pc:sldMk cId="0" sldId="262"/>
            <ac:spMk id="22" creationId="{00000000-0000-0000-0000-000000000000}"/>
          </ac:spMkLst>
        </pc:spChg>
      </pc:sldChg>
      <pc:sldChg chg="del">
        <pc:chgData name="vignesh R." userId="3f15f9a396fc35b9" providerId="LiveId" clId="{6941BDCE-4BCE-4AE4-A60A-E43D3EB2C28B}" dt="2026-08-26T07:52:09.546" v="56" actId="47"/>
        <pc:sldMkLst>
          <pc:docMk/>
          <pc:sldMk cId="0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957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585788"/>
            <a:ext cx="500631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9CC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· SEMESTER VII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14350" y="1690557"/>
            <a:ext cx="5006318" cy="1428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78400"/>
              </a:lnSpc>
              <a:buNone/>
            </a:pPr>
            <a:r>
              <a:rPr lang="en-US" sz="3750" kern="0" spc="-2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Property Value &amp; </a:t>
            </a:r>
            <a:r>
              <a:rPr lang="en-US" sz="3750" kern="0" spc="-2" dirty="0">
                <a:solidFill>
                  <a:srgbClr val="9CC3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Infrastructure Impact</a:t>
            </a:r>
            <a:r>
              <a:rPr lang="en-US" sz="3750" kern="0" spc="-2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Estimator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14350" y="3290032"/>
            <a:ext cx="4643438" cy="462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evidence-based view of how development may affect local property values.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 rot="10800000">
            <a:off x="8188259" y="3484454"/>
            <a:ext cx="45719" cy="87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6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4961BD8-3993-8D65-8808-48E675945F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1264" y="245496"/>
            <a:ext cx="2182022" cy="2360053"/>
          </a:xfrm>
          <a:prstGeom prst="rect">
            <a:avLst/>
          </a:prstGeom>
        </p:spPr>
      </p:pic>
      <p:sp>
        <p:nvSpPr>
          <p:cNvPr id="17" name="Text 7">
            <a:extLst>
              <a:ext uri="{FF2B5EF4-FFF2-40B4-BE49-F238E27FC236}">
                <a16:creationId xmlns:a16="http://schemas.microsoft.com/office/drawing/2014/main" id="{CFD5949D-B9F8-35B1-CF6A-E7CF21DA9C09}"/>
              </a:ext>
            </a:extLst>
          </p:cNvPr>
          <p:cNvSpPr/>
          <p:nvPr/>
        </p:nvSpPr>
        <p:spPr>
          <a:xfrm>
            <a:off x="5881264" y="2731409"/>
            <a:ext cx="3362855" cy="239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1796F95C-24AC-C3CA-FAEF-B6DE2185A170}"/>
              </a:ext>
            </a:extLst>
          </p:cNvPr>
          <p:cNvSpPr/>
          <p:nvPr/>
        </p:nvSpPr>
        <p:spPr>
          <a:xfrm>
            <a:off x="6217549" y="3052342"/>
            <a:ext cx="2690284" cy="279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Vignesh Rasuri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33505DBA-B78F-B5AA-E128-B349E24DBEAA}"/>
              </a:ext>
            </a:extLst>
          </p:cNvPr>
          <p:cNvSpPr/>
          <p:nvPr/>
        </p:nvSpPr>
        <p:spPr>
          <a:xfrm>
            <a:off x="7614123" y="3052342"/>
            <a:ext cx="1849570" cy="279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23WU0101189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7FBA6A19-575F-0FA3-56AB-8C6728CA8B8D}"/>
              </a:ext>
            </a:extLst>
          </p:cNvPr>
          <p:cNvSpPr/>
          <p:nvPr/>
        </p:nvSpPr>
        <p:spPr>
          <a:xfrm>
            <a:off x="6268981" y="3777501"/>
            <a:ext cx="2690284" cy="279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Thota Abhishek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2B2725AB-7E39-E53E-E837-BEBD38A97055}"/>
              </a:ext>
            </a:extLst>
          </p:cNvPr>
          <p:cNvSpPr/>
          <p:nvPr/>
        </p:nvSpPr>
        <p:spPr>
          <a:xfrm>
            <a:off x="7646744" y="3415444"/>
            <a:ext cx="1849570" cy="279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23WU0101178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59AD4BB7-F7F3-0B0E-D5C7-BE5214664702}"/>
              </a:ext>
            </a:extLst>
          </p:cNvPr>
          <p:cNvSpPr/>
          <p:nvPr/>
        </p:nvSpPr>
        <p:spPr>
          <a:xfrm>
            <a:off x="6152589" y="3398913"/>
            <a:ext cx="2690284" cy="279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Tangudu Santosh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6A8A0B36-97C9-4961-AAAD-D99BE3666D8A}"/>
              </a:ext>
            </a:extLst>
          </p:cNvPr>
          <p:cNvSpPr/>
          <p:nvPr/>
        </p:nvSpPr>
        <p:spPr>
          <a:xfrm>
            <a:off x="7646744" y="3813664"/>
            <a:ext cx="1849570" cy="279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23WU0101171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C92D59D1-A6C7-ABB8-8CA0-6B6CFB6C80E7}"/>
              </a:ext>
            </a:extLst>
          </p:cNvPr>
          <p:cNvSpPr/>
          <p:nvPr/>
        </p:nvSpPr>
        <p:spPr>
          <a:xfrm>
            <a:off x="1124372" y="42276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/ MENTOR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9" name="Shape 15">
            <a:extLst>
              <a:ext uri="{FF2B5EF4-FFF2-40B4-BE49-F238E27FC236}">
                <a16:creationId xmlns:a16="http://schemas.microsoft.com/office/drawing/2014/main" id="{7F8BB7B8-F3B8-2E21-F361-FA8859B446C4}"/>
              </a:ext>
            </a:extLst>
          </p:cNvPr>
          <p:cNvSpPr/>
          <p:nvPr/>
        </p:nvSpPr>
        <p:spPr>
          <a:xfrm>
            <a:off x="856788" y="4571754"/>
            <a:ext cx="1828800" cy="0"/>
          </a:xfrm>
          <a:prstGeom prst="line">
            <a:avLst/>
          </a:prstGeom>
          <a:noFill/>
          <a:ln w="12700">
            <a:solidFill>
              <a:srgbClr val="B9C4D3"/>
            </a:solidFill>
            <a:prstDash val="solid"/>
          </a:ln>
        </p:spPr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47A7319-F8FB-7E48-4DA6-9A7885E7A210}"/>
              </a:ext>
            </a:extLst>
          </p:cNvPr>
          <p:cNvSpPr txBox="1"/>
          <p:nvPr/>
        </p:nvSpPr>
        <p:spPr>
          <a:xfrm>
            <a:off x="856788" y="4649133"/>
            <a:ext cx="2185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Prof. Dileep Kumar 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442913"/>
            <a:ext cx="81438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THE CHALLENGE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00063" y="635794"/>
            <a:ext cx="8143875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531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this problem matters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00063" y="1503759"/>
            <a:ext cx="2786063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64000"/>
              </a:lnSpc>
              <a:buNone/>
            </a:pPr>
            <a:r>
              <a:rPr lang="en-US" sz="6200" b="1" dirty="0">
                <a:solidFill>
                  <a:srgbClr val="9CC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200" dirty="0"/>
          </a:p>
        </p:txBody>
      </p:sp>
      <p:sp>
        <p:nvSpPr>
          <p:cNvPr id="6" name="Text 3"/>
          <p:cNvSpPr/>
          <p:nvPr/>
        </p:nvSpPr>
        <p:spPr>
          <a:xfrm>
            <a:off x="500063" y="2375297"/>
            <a:ext cx="266350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9600"/>
              </a:lnSpc>
              <a:buNone/>
            </a:pPr>
            <a:r>
              <a:rPr lang="en-US" sz="1800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can change 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00063" y="2647317"/>
            <a:ext cx="251063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9600"/>
              </a:lnSpc>
              <a:buNone/>
            </a:pPr>
            <a:r>
              <a:rPr lang="en-US" sz="1800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place. But the evidence is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00063" y="2919338"/>
            <a:ext cx="57842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9600"/>
              </a:lnSpc>
              <a:buNone/>
            </a:pPr>
            <a:r>
              <a:rPr lang="en-US" sz="1800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78483" y="2919338"/>
            <a:ext cx="1167836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9600"/>
              </a:lnSpc>
              <a:buNone/>
            </a:pPr>
            <a:r>
              <a:rPr lang="en-US" sz="1800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see.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951917" y="1585121"/>
            <a:ext cx="242888" cy="242888"/>
          </a:xfrm>
          <a:prstGeom prst="ellipse">
            <a:avLst/>
          </a:prstGeom>
          <a:solidFill>
            <a:srgbClr val="15316B"/>
          </a:solidFill>
          <a:ln/>
        </p:spPr>
      </p:sp>
      <p:sp>
        <p:nvSpPr>
          <p:cNvPr id="11" name="Text 8"/>
          <p:cNvSpPr/>
          <p:nvPr/>
        </p:nvSpPr>
        <p:spPr>
          <a:xfrm>
            <a:off x="4051902" y="1639491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537677" y="1639491"/>
            <a:ext cx="4563405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is scattered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37677" y="1857375"/>
            <a:ext cx="4563405" cy="1578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News, government updates, and market values live in different places.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966436" y="2218582"/>
            <a:ext cx="242888" cy="242888"/>
          </a:xfrm>
          <a:prstGeom prst="ellipse">
            <a:avLst/>
          </a:prstGeom>
          <a:solidFill>
            <a:srgbClr val="15316B"/>
          </a:solidFill>
          <a:ln/>
        </p:spPr>
      </p:sp>
      <p:sp>
        <p:nvSpPr>
          <p:cNvPr id="15" name="Text 12"/>
          <p:cNvSpPr/>
          <p:nvPr/>
        </p:nvSpPr>
        <p:spPr>
          <a:xfrm>
            <a:off x="4051902" y="2279526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537677" y="2279526"/>
            <a:ext cx="4563405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are difficult to compare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37677" y="2497410"/>
            <a:ext cx="4563405" cy="1578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do not have one clear view of value, growth, and development.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966436" y="2851695"/>
            <a:ext cx="242888" cy="242888"/>
          </a:xfrm>
          <a:prstGeom prst="ellipse">
            <a:avLst/>
          </a:prstGeom>
          <a:solidFill>
            <a:srgbClr val="15316B"/>
          </a:solidFill>
          <a:ln/>
        </p:spPr>
      </p:sp>
      <p:sp>
        <p:nvSpPr>
          <p:cNvPr id="19" name="Text 16"/>
          <p:cNvSpPr/>
          <p:nvPr/>
        </p:nvSpPr>
        <p:spPr>
          <a:xfrm>
            <a:off x="4051902" y="2919561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537677" y="2919561"/>
            <a:ext cx="4563405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changes the outlook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37677" y="3137446"/>
            <a:ext cx="4563405" cy="1578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Roads, airports, rail, and industry can affect local demand.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959663" y="3484808"/>
            <a:ext cx="242888" cy="242888"/>
          </a:xfrm>
          <a:prstGeom prst="ellipse">
            <a:avLst/>
          </a:prstGeom>
          <a:solidFill>
            <a:srgbClr val="15316B"/>
          </a:solidFill>
          <a:ln/>
        </p:spPr>
      </p:sp>
      <p:sp>
        <p:nvSpPr>
          <p:cNvPr id="23" name="Text 20"/>
          <p:cNvSpPr/>
          <p:nvPr/>
        </p:nvSpPr>
        <p:spPr>
          <a:xfrm>
            <a:off x="4051902" y="3559597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537677" y="3559597"/>
            <a:ext cx="4563405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matters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537677" y="3777481"/>
            <a:ext cx="4563405" cy="1578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useful estimate should show its sources and its confidence.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00063" y="4839891"/>
            <a:ext cx="2774789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kern="0" spc="1" dirty="0">
                <a:solidFill>
                  <a:srgbClr val="7A8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· FROM SCATTERED FACTS TO ONE REGIONAL VIEW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28625"/>
            <a:ext cx="82296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THE PRODUCT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457200" y="621506"/>
            <a:ext cx="8229600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350" dirty="0">
                <a:solidFill>
                  <a:srgbClr val="1531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Our solution in one view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457200" y="1462683"/>
            <a:ext cx="3071813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600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map connects </a:t>
            </a:r>
            <a:r>
              <a:rPr lang="en-US" sz="1500" b="1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value, development, and evidence.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2777" y="2265462"/>
            <a:ext cx="221456" cy="221456"/>
          </a:xfrm>
          <a:prstGeom prst="ellipse">
            <a:avLst/>
          </a:prstGeom>
          <a:solidFill>
            <a:srgbClr val="1F4E9C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2298502"/>
            <a:ext cx="22145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57250" y="2298502"/>
            <a:ext cx="305635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state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57250" y="2477095"/>
            <a:ext cx="305635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India map and choose the area to explore.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82777" y="2766417"/>
            <a:ext cx="221456" cy="221456"/>
          </a:xfrm>
          <a:prstGeom prst="ellipse">
            <a:avLst/>
          </a:prstGeom>
          <a:solidFill>
            <a:srgbClr val="1F4E9C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2809280"/>
            <a:ext cx="22145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57250" y="2809280"/>
            <a:ext cx="305635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 region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57250" y="2987873"/>
            <a:ext cx="305635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current value, projection, and confidence.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82777" y="3265587"/>
            <a:ext cx="221456" cy="221456"/>
          </a:xfrm>
          <a:prstGeom prst="ellipse">
            <a:avLst/>
          </a:prstGeom>
          <a:solidFill>
            <a:srgbClr val="1F4E9C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3320058"/>
            <a:ext cx="22145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57250" y="3320058"/>
            <a:ext cx="305635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evidence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57250" y="3498652"/>
            <a:ext cx="305635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news and infrastructure at exact map locations.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90957" y="3787974"/>
            <a:ext cx="221456" cy="221456"/>
          </a:xfrm>
          <a:prstGeom prst="ellipse">
            <a:avLst/>
          </a:prstGeom>
          <a:solidFill>
            <a:srgbClr val="1F4E9C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3830836"/>
            <a:ext cx="22145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57250" y="3830836"/>
            <a:ext cx="305635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scenario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57250" y="4009430"/>
            <a:ext cx="305635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property value and compare a future estimate.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4256503" y="4282678"/>
            <a:ext cx="4773141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kern="0" spc="1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 · MAP FIRST · EVIDENCE LINKED</a:t>
            </a:r>
            <a:endParaRPr lang="en-US" sz="600" dirty="0"/>
          </a:p>
        </p:txBody>
      </p:sp>
      <p:sp>
        <p:nvSpPr>
          <p:cNvPr id="24" name="Text 20"/>
          <p:cNvSpPr/>
          <p:nvPr/>
        </p:nvSpPr>
        <p:spPr>
          <a:xfrm>
            <a:off x="6825183" y="4854178"/>
            <a:ext cx="1861617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kern="0" spc="1" dirty="0">
                <a:solidFill>
                  <a:srgbClr val="7A8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STARTING POINT FOR EVERY REGION</a:t>
            </a:r>
            <a:endParaRPr lang="en-US" sz="6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68FF970-D0AF-5CF1-E660-FCBA34C83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1658" y="1612305"/>
            <a:ext cx="4805152" cy="24364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442913"/>
            <a:ext cx="81438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THE PROCESS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00063" y="635794"/>
            <a:ext cx="8143875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531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the system works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300163" y="1675209"/>
            <a:ext cx="200025" cy="200025"/>
          </a:xfrm>
          <a:prstGeom prst="ellipse">
            <a:avLst/>
          </a:prstGeom>
          <a:solidFill>
            <a:srgbClr val="15316B"/>
          </a:solidFill>
          <a:ln/>
        </p:spPr>
      </p:sp>
      <p:sp>
        <p:nvSpPr>
          <p:cNvPr id="6" name="Text 3"/>
          <p:cNvSpPr/>
          <p:nvPr/>
        </p:nvSpPr>
        <p:spPr>
          <a:xfrm>
            <a:off x="1300163" y="167520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821531" y="1746647"/>
            <a:ext cx="642938" cy="642938"/>
          </a:xfrm>
          <a:prstGeom prst="ellipse">
            <a:avLst/>
          </a:prstGeom>
          <a:solidFill>
            <a:srgbClr val="F5F7FA"/>
          </a:solidFill>
          <a:ln w="18288">
            <a:solidFill>
              <a:srgbClr val="1F4E9C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1953816"/>
            <a:ext cx="28575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41022" y="2561034"/>
            <a:ext cx="40390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00063" y="2821781"/>
            <a:ext cx="128587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public news and government records.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2671763" y="1675209"/>
            <a:ext cx="200025" cy="200025"/>
          </a:xfrm>
          <a:prstGeom prst="ellipse">
            <a:avLst/>
          </a:prstGeom>
          <a:solidFill>
            <a:srgbClr val="15316B"/>
          </a:solidFill>
          <a:ln/>
        </p:spPr>
      </p:sp>
      <p:sp>
        <p:nvSpPr>
          <p:cNvPr id="12" name="Text 8"/>
          <p:cNvSpPr/>
          <p:nvPr/>
        </p:nvSpPr>
        <p:spPr>
          <a:xfrm>
            <a:off x="2671763" y="167520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13" name="Shape 9"/>
          <p:cNvSpPr/>
          <p:nvPr/>
        </p:nvSpPr>
        <p:spPr>
          <a:xfrm>
            <a:off x="2193131" y="1746647"/>
            <a:ext cx="642938" cy="642938"/>
          </a:xfrm>
          <a:prstGeom prst="ellipse">
            <a:avLst/>
          </a:prstGeom>
          <a:solidFill>
            <a:srgbClr val="F5F7FA"/>
          </a:solidFill>
          <a:ln w="18288">
            <a:solidFill>
              <a:srgbClr val="1F4E9C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8875" y="1953816"/>
            <a:ext cx="17145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308380" y="2561034"/>
            <a:ext cx="41238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871663" y="2821781"/>
            <a:ext cx="128587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projects, places, and development status.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4043363" y="1675209"/>
            <a:ext cx="200025" cy="200025"/>
          </a:xfrm>
          <a:prstGeom prst="ellipse">
            <a:avLst/>
          </a:prstGeom>
          <a:solidFill>
            <a:srgbClr val="15316B"/>
          </a:solidFill>
          <a:ln/>
        </p:spPr>
      </p:sp>
      <p:sp>
        <p:nvSpPr>
          <p:cNvPr id="18" name="Text 13"/>
          <p:cNvSpPr/>
          <p:nvPr/>
        </p:nvSpPr>
        <p:spPr>
          <a:xfrm>
            <a:off x="4043363" y="167520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19" name="Shape 14"/>
          <p:cNvSpPr/>
          <p:nvPr/>
        </p:nvSpPr>
        <p:spPr>
          <a:xfrm>
            <a:off x="3564731" y="1746647"/>
            <a:ext cx="642938" cy="642938"/>
          </a:xfrm>
          <a:prstGeom prst="ellipse">
            <a:avLst/>
          </a:prstGeom>
          <a:solidFill>
            <a:srgbClr val="F5F7FA"/>
          </a:solidFill>
          <a:ln w="18288">
            <a:solidFill>
              <a:srgbClr val="1F4E9C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0475" y="1953816"/>
            <a:ext cx="171450" cy="228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697058" y="2561034"/>
            <a:ext cx="3782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3243263" y="2821781"/>
            <a:ext cx="128587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each extracted fact to a specific region.</a:t>
            </a:r>
            <a:endParaRPr lang="en-US" sz="800" dirty="0"/>
          </a:p>
        </p:txBody>
      </p:sp>
      <p:sp>
        <p:nvSpPr>
          <p:cNvPr id="23" name="Shape 17"/>
          <p:cNvSpPr/>
          <p:nvPr/>
        </p:nvSpPr>
        <p:spPr>
          <a:xfrm>
            <a:off x="5414963" y="1675209"/>
            <a:ext cx="200025" cy="200025"/>
          </a:xfrm>
          <a:prstGeom prst="ellipse">
            <a:avLst/>
          </a:prstGeom>
          <a:solidFill>
            <a:srgbClr val="15316B"/>
          </a:solidFill>
          <a:ln/>
        </p:spPr>
      </p:sp>
      <p:sp>
        <p:nvSpPr>
          <p:cNvPr id="24" name="Text 18"/>
          <p:cNvSpPr/>
          <p:nvPr/>
        </p:nvSpPr>
        <p:spPr>
          <a:xfrm>
            <a:off x="5414963" y="167520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25" name="Shape 19"/>
          <p:cNvSpPr/>
          <p:nvPr/>
        </p:nvSpPr>
        <p:spPr>
          <a:xfrm>
            <a:off x="4936331" y="1746647"/>
            <a:ext cx="642938" cy="642938"/>
          </a:xfrm>
          <a:prstGeom prst="ellipse">
            <a:avLst/>
          </a:prstGeom>
          <a:solidFill>
            <a:srgbClr val="F5F7FA"/>
          </a:solidFill>
          <a:ln w="18288">
            <a:solidFill>
              <a:srgbClr val="1F4E9C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3500" y="1953816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95503" y="2561034"/>
            <a:ext cx="3245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4614863" y="2821781"/>
            <a:ext cx="128587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impact and confidence levels.</a:t>
            </a:r>
            <a:endParaRPr lang="en-US" sz="800" dirty="0"/>
          </a:p>
        </p:txBody>
      </p:sp>
      <p:sp>
        <p:nvSpPr>
          <p:cNvPr id="29" name="Shape 22"/>
          <p:cNvSpPr/>
          <p:nvPr/>
        </p:nvSpPr>
        <p:spPr>
          <a:xfrm>
            <a:off x="6786563" y="1675209"/>
            <a:ext cx="200025" cy="200025"/>
          </a:xfrm>
          <a:prstGeom prst="ellipse">
            <a:avLst/>
          </a:prstGeom>
          <a:solidFill>
            <a:srgbClr val="15316B"/>
          </a:solidFill>
          <a:ln/>
        </p:spPr>
      </p:sp>
      <p:sp>
        <p:nvSpPr>
          <p:cNvPr id="30" name="Text 23"/>
          <p:cNvSpPr/>
          <p:nvPr/>
        </p:nvSpPr>
        <p:spPr>
          <a:xfrm>
            <a:off x="6786563" y="167520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31" name="Shape 24"/>
          <p:cNvSpPr/>
          <p:nvPr/>
        </p:nvSpPr>
        <p:spPr>
          <a:xfrm>
            <a:off x="6307931" y="1746647"/>
            <a:ext cx="642938" cy="642938"/>
          </a:xfrm>
          <a:prstGeom prst="ellipse">
            <a:avLst/>
          </a:prstGeom>
          <a:solidFill>
            <a:srgbClr val="F5F7FA"/>
          </a:solidFill>
          <a:ln w="18288">
            <a:solidFill>
              <a:srgbClr val="1F4E9C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9388" y="1953816"/>
            <a:ext cx="200025" cy="2286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472572" y="2561034"/>
            <a:ext cx="31359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5986463" y="2821781"/>
            <a:ext cx="128587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structured data in PostgreSQL.</a:t>
            </a:r>
            <a:endParaRPr lang="en-US" sz="800" dirty="0"/>
          </a:p>
        </p:txBody>
      </p:sp>
      <p:sp>
        <p:nvSpPr>
          <p:cNvPr id="35" name="Shape 27"/>
          <p:cNvSpPr/>
          <p:nvPr/>
        </p:nvSpPr>
        <p:spPr>
          <a:xfrm>
            <a:off x="8158163" y="1675209"/>
            <a:ext cx="200025" cy="200025"/>
          </a:xfrm>
          <a:prstGeom prst="ellipse">
            <a:avLst/>
          </a:prstGeom>
          <a:solidFill>
            <a:srgbClr val="15316B"/>
          </a:solidFill>
          <a:ln/>
        </p:spPr>
      </p:sp>
      <p:sp>
        <p:nvSpPr>
          <p:cNvPr id="36" name="Text 28"/>
          <p:cNvSpPr/>
          <p:nvPr/>
        </p:nvSpPr>
        <p:spPr>
          <a:xfrm>
            <a:off x="8158163" y="167520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37" name="Shape 29"/>
          <p:cNvSpPr/>
          <p:nvPr/>
        </p:nvSpPr>
        <p:spPr>
          <a:xfrm>
            <a:off x="7679531" y="1746647"/>
            <a:ext cx="642938" cy="642938"/>
          </a:xfrm>
          <a:prstGeom prst="ellipse">
            <a:avLst/>
          </a:prstGeom>
          <a:solidFill>
            <a:srgbClr val="F5F7FA"/>
          </a:solidFill>
          <a:ln w="18288">
            <a:solidFill>
              <a:srgbClr val="1F4E9C"/>
            </a:solidFill>
            <a:prstDash val="solid"/>
          </a:ln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2413" y="1953816"/>
            <a:ext cx="257175" cy="22860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7786185" y="2561034"/>
            <a:ext cx="4295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000" dirty="0"/>
          </a:p>
        </p:txBody>
      </p:sp>
      <p:sp>
        <p:nvSpPr>
          <p:cNvPr id="40" name="Text 31"/>
          <p:cNvSpPr/>
          <p:nvPr/>
        </p:nvSpPr>
        <p:spPr>
          <a:xfrm>
            <a:off x="7358063" y="2821781"/>
            <a:ext cx="128587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results in the React dashboard.</a:t>
            </a:r>
            <a:endParaRPr lang="en-US" sz="800" dirty="0"/>
          </a:p>
        </p:txBody>
      </p:sp>
      <p:sp>
        <p:nvSpPr>
          <p:cNvPr id="41" name="Text 32"/>
          <p:cNvSpPr/>
          <p:nvPr/>
        </p:nvSpPr>
        <p:spPr>
          <a:xfrm>
            <a:off x="500063" y="4839891"/>
            <a:ext cx="3312244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kern="0" spc="1" dirty="0">
                <a:solidFill>
                  <a:srgbClr val="7A8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· A SEAMLESS JOURNEY FROM RAW DATA TO REGIONAL INSIGHT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85775"/>
            <a:ext cx="80010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TECHNOLOGY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71500" y="678656"/>
            <a:ext cx="80010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600" dirty="0">
                <a:solidFill>
                  <a:srgbClr val="1531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71500" y="1382316"/>
            <a:ext cx="2500313" cy="8001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382316"/>
            <a:ext cx="28575" cy="800100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4"/>
          <p:cNvSpPr/>
          <p:nvPr/>
        </p:nvSpPr>
        <p:spPr>
          <a:xfrm>
            <a:off x="714375" y="1525191"/>
            <a:ext cx="221456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14375" y="1739503"/>
            <a:ext cx="22145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React-based dashboard with interactive Leaflet maps and dynamic data panels.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71500" y="2325291"/>
            <a:ext cx="2500313" cy="8001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" y="2325291"/>
            <a:ext cx="28575" cy="800100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11" name="Text 8"/>
          <p:cNvSpPr/>
          <p:nvPr/>
        </p:nvSpPr>
        <p:spPr>
          <a:xfrm>
            <a:off x="714375" y="2468166"/>
            <a:ext cx="221456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14375" y="2682478"/>
            <a:ext cx="22145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REST API managing data flow, scoring, and scheduled ingestion jobs.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71500" y="3268266"/>
            <a:ext cx="2500313" cy="8001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4" name="Shape 11"/>
          <p:cNvSpPr/>
          <p:nvPr/>
        </p:nvSpPr>
        <p:spPr>
          <a:xfrm>
            <a:off x="571500" y="3268266"/>
            <a:ext cx="28575" cy="800100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15" name="Text 12"/>
          <p:cNvSpPr/>
          <p:nvPr/>
        </p:nvSpPr>
        <p:spPr>
          <a:xfrm>
            <a:off x="714375" y="3411141"/>
            <a:ext cx="221456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14375" y="3625453"/>
            <a:ext cx="22145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with PostGIS for spatial queries, region geometry, and news storage.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71500" y="4211241"/>
            <a:ext cx="2500313" cy="8001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8" name="Shape 15"/>
          <p:cNvSpPr/>
          <p:nvPr/>
        </p:nvSpPr>
        <p:spPr>
          <a:xfrm>
            <a:off x="571500" y="4211241"/>
            <a:ext cx="28575" cy="800100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19" name="Text 16"/>
          <p:cNvSpPr/>
          <p:nvPr/>
        </p:nvSpPr>
        <p:spPr>
          <a:xfrm>
            <a:off x="714375" y="4354116"/>
            <a:ext cx="221456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14375" y="4568428"/>
            <a:ext cx="22145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for price prediction and LLM-based news fact extraction.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3429000" y="1382316"/>
            <a:ext cx="5300663" cy="3429000"/>
          </a:xfrm>
          <a:prstGeom prst="rect">
            <a:avLst/>
          </a:prstGeom>
          <a:solidFill>
            <a:srgbClr val="FFFFFF"/>
          </a:solidFill>
          <a:ln w="9144">
            <a:solidFill>
              <a:srgbClr val="D9E2EC"/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875" y="1525191"/>
            <a:ext cx="5000625" cy="314325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71500" y="4825603"/>
            <a:ext cx="1880704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kern="0" spc="1" dirty="0">
                <a:solidFill>
                  <a:srgbClr val="7A8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· INTEGRATED DATA PIPELINE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442913"/>
            <a:ext cx="81438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THE INTELLIGENCE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00063" y="635794"/>
            <a:ext cx="8143875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531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data and ML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00063" y="1460897"/>
            <a:ext cx="2571750" cy="2120131"/>
          </a:xfrm>
          <a:prstGeom prst="rect">
            <a:avLst/>
          </a:prstGeom>
          <a:solidFill>
            <a:srgbClr val="F5F7FA"/>
          </a:solidFill>
          <a:ln w="9144">
            <a:solidFill>
              <a:srgbClr val="D9E2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16037" y="1631566"/>
            <a:ext cx="228600" cy="228600"/>
          </a:xfrm>
          <a:prstGeom prst="ellipse">
            <a:avLst/>
          </a:prstGeom>
          <a:solidFill>
            <a:srgbClr val="15316B"/>
          </a:solidFill>
          <a:ln/>
        </p:spPr>
      </p:sp>
      <p:sp>
        <p:nvSpPr>
          <p:cNvPr id="7" name="Text 4"/>
          <p:cNvSpPr/>
          <p:nvPr/>
        </p:nvSpPr>
        <p:spPr>
          <a:xfrm>
            <a:off x="700088" y="1689497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14413" y="1707356"/>
            <a:ext cx="99186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00088" y="2060972"/>
            <a:ext cx="2171700" cy="3399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property values from government and market sources.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00088" y="2486695"/>
            <a:ext cx="2171700" cy="3399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features: district, time, and geographic location.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00088" y="2912418"/>
            <a:ext cx="2171700" cy="3399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status: planned, developing, or operational.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86125" y="1492197"/>
            <a:ext cx="2571750" cy="2120131"/>
          </a:xfrm>
          <a:prstGeom prst="rect">
            <a:avLst/>
          </a:prstGeom>
          <a:solidFill>
            <a:srgbClr val="F5F7FA"/>
          </a:solidFill>
          <a:ln w="9144">
            <a:solidFill>
              <a:srgbClr val="D9E2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0088" y="2060972"/>
            <a:ext cx="6049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00088" y="2486695"/>
            <a:ext cx="6049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00088" y="2912418"/>
            <a:ext cx="6049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414713" y="1631566"/>
            <a:ext cx="228600" cy="228600"/>
          </a:xfrm>
          <a:prstGeom prst="ellipse">
            <a:avLst/>
          </a:prstGeom>
          <a:solidFill>
            <a:srgbClr val="15316B"/>
          </a:solidFill>
          <a:ln/>
        </p:spPr>
      </p:sp>
      <p:sp>
        <p:nvSpPr>
          <p:cNvPr id="17" name="Text 14"/>
          <p:cNvSpPr/>
          <p:nvPr/>
        </p:nvSpPr>
        <p:spPr>
          <a:xfrm>
            <a:off x="3486150" y="1689497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800475" y="1707356"/>
            <a:ext cx="1302674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486150" y="2060972"/>
            <a:ext cx="2171700" cy="3399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market trends with local infrastructure impact.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486150" y="2486695"/>
            <a:ext cx="2171700" cy="3399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units and dates across all data sources.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486150" y="2912418"/>
            <a:ext cx="2171700" cy="3399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time-based testing to prevent data leakage.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072188" y="1460897"/>
            <a:ext cx="2571750" cy="2120131"/>
          </a:xfrm>
          <a:prstGeom prst="rect">
            <a:avLst/>
          </a:prstGeom>
          <a:solidFill>
            <a:srgbClr val="F5F7FA"/>
          </a:solidFill>
          <a:ln w="9144">
            <a:solidFill>
              <a:srgbClr val="D9E2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86150" y="2060972"/>
            <a:ext cx="6049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486150" y="2486695"/>
            <a:ext cx="6049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3486150" y="2912418"/>
            <a:ext cx="6049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200776" y="1646635"/>
            <a:ext cx="228600" cy="228600"/>
          </a:xfrm>
          <a:prstGeom prst="ellipse">
            <a:avLst/>
          </a:prstGeom>
          <a:solidFill>
            <a:srgbClr val="15316B"/>
          </a:solidFill>
          <a:ln/>
        </p:spPr>
      </p:sp>
      <p:sp>
        <p:nvSpPr>
          <p:cNvPr id="27" name="Text 24"/>
          <p:cNvSpPr/>
          <p:nvPr/>
        </p:nvSpPr>
        <p:spPr>
          <a:xfrm>
            <a:off x="6272213" y="1689497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586538" y="1707356"/>
            <a:ext cx="97958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272213" y="2060972"/>
            <a:ext cx="2171700" cy="3399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simple baselines before advanced ML models.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272213" y="2486695"/>
            <a:ext cx="2171700" cy="3399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for multiple horizons: 6 months to 5 years.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272213" y="2912418"/>
            <a:ext cx="2171700" cy="3399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performance on new regions and time periods.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00063" y="3852490"/>
            <a:ext cx="8143875" cy="828675"/>
          </a:xfrm>
          <a:prstGeom prst="rect">
            <a:avLst/>
          </a:prstGeom>
          <a:solidFill>
            <a:srgbClr val="15316B"/>
          </a:solidFill>
          <a:ln/>
        </p:spPr>
      </p:sp>
      <p:sp>
        <p:nvSpPr>
          <p:cNvPr id="33" name="Text 30"/>
          <p:cNvSpPr/>
          <p:nvPr/>
        </p:nvSpPr>
        <p:spPr>
          <a:xfrm>
            <a:off x="6272213" y="2060972"/>
            <a:ext cx="6049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272213" y="2486695"/>
            <a:ext cx="6049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6272213" y="2912418"/>
            <a:ext cx="6049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785813" y="4188247"/>
            <a:ext cx="24288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2" dirty="0">
                <a:solidFill>
                  <a:srgbClr val="9CC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3500438" y="4066803"/>
            <a:ext cx="4857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returns a </a:t>
            </a:r>
            <a:r>
              <a:rPr lang="en-US" sz="10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range</a:t>
            </a:r>
            <a:r>
              <a:rPr lang="en-US" sz="10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</a:t>
            </a:r>
            <a:r>
              <a:rPr lang="en-US" sz="10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r>
              <a:rPr lang="en-US" sz="10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</a:t>
            </a:r>
            <a:r>
              <a:rPr lang="en-US" sz="10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version</a:t>
            </a:r>
            <a:r>
              <a:rPr lang="en-US" sz="10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the </a:t>
            </a:r>
            <a:r>
              <a:rPr lang="en-US" sz="10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factors</a:t>
            </a:r>
            <a:r>
              <a:rPr lang="en-US" sz="10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driving the estimate.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500063" y="4839891"/>
            <a:ext cx="2499029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kern="0" spc="1" dirty="0">
                <a:solidFill>
                  <a:srgbClr val="7A8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· EVIDENCE-BASED REGIONAL INTELLIGENCE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442913"/>
            <a:ext cx="81438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DATA INTELLIGENCE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00063" y="635794"/>
            <a:ext cx="8143875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531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News becomes structured data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00063" y="1460897"/>
            <a:ext cx="8143875" cy="1065088"/>
          </a:xfrm>
          <a:prstGeom prst="rect">
            <a:avLst/>
          </a:prstGeom>
          <a:solidFill>
            <a:srgbClr val="F5F7FA"/>
          </a:solidFill>
          <a:ln w="9144">
            <a:solidFill>
              <a:srgbClr val="D9E2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00162" y="1639605"/>
            <a:ext cx="257175" cy="257175"/>
          </a:xfrm>
          <a:prstGeom prst="ellipse">
            <a:avLst/>
          </a:prstGeom>
          <a:solidFill>
            <a:srgbClr val="15316B"/>
          </a:solidFill>
          <a:ln/>
        </p:spPr>
      </p:sp>
      <p:sp>
        <p:nvSpPr>
          <p:cNvPr id="7" name="Text 4"/>
          <p:cNvSpPr/>
          <p:nvPr/>
        </p:nvSpPr>
        <p:spPr>
          <a:xfrm>
            <a:off x="1300163" y="1675209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14375" y="2018109"/>
            <a:ext cx="14287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14375" y="2185988"/>
            <a:ext cx="1428750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6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news from public sources</a:t>
            </a:r>
            <a:endParaRPr lang="en-US" sz="650" dirty="0"/>
          </a:p>
        </p:txBody>
      </p:sp>
      <p:sp>
        <p:nvSpPr>
          <p:cNvPr id="10" name="Shape 7"/>
          <p:cNvSpPr/>
          <p:nvPr/>
        </p:nvSpPr>
        <p:spPr>
          <a:xfrm>
            <a:off x="2871787" y="1628280"/>
            <a:ext cx="257175" cy="257175"/>
          </a:xfrm>
          <a:prstGeom prst="ellipse">
            <a:avLst/>
          </a:prstGeom>
          <a:solidFill>
            <a:srgbClr val="15316B"/>
          </a:solidFill>
          <a:ln/>
        </p:spPr>
      </p:sp>
      <p:sp>
        <p:nvSpPr>
          <p:cNvPr id="11" name="Text 8"/>
          <p:cNvSpPr/>
          <p:nvPr/>
        </p:nvSpPr>
        <p:spPr>
          <a:xfrm>
            <a:off x="2871788" y="1675209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286000" y="2018109"/>
            <a:ext cx="14287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286000" y="2185988"/>
            <a:ext cx="1428750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6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 and normalize</a:t>
            </a:r>
            <a:endParaRPr lang="en-US" sz="650" dirty="0"/>
          </a:p>
        </p:txBody>
      </p:sp>
      <p:sp>
        <p:nvSpPr>
          <p:cNvPr id="14" name="Shape 11"/>
          <p:cNvSpPr/>
          <p:nvPr/>
        </p:nvSpPr>
        <p:spPr>
          <a:xfrm>
            <a:off x="4443411" y="1615156"/>
            <a:ext cx="257175" cy="257175"/>
          </a:xfrm>
          <a:prstGeom prst="ellipse">
            <a:avLst/>
          </a:prstGeom>
          <a:solidFill>
            <a:srgbClr val="15316B"/>
          </a:solidFill>
          <a:ln/>
        </p:spPr>
      </p:sp>
      <p:sp>
        <p:nvSpPr>
          <p:cNvPr id="15" name="Text 12"/>
          <p:cNvSpPr/>
          <p:nvPr/>
        </p:nvSpPr>
        <p:spPr>
          <a:xfrm>
            <a:off x="4443413" y="1675209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57625" y="2018109"/>
            <a:ext cx="14287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857625" y="2185988"/>
            <a:ext cx="1428750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6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projects, places, and dates</a:t>
            </a:r>
            <a:endParaRPr lang="en-US" sz="650" dirty="0"/>
          </a:p>
        </p:txBody>
      </p:sp>
      <p:sp>
        <p:nvSpPr>
          <p:cNvPr id="18" name="Shape 15"/>
          <p:cNvSpPr/>
          <p:nvPr/>
        </p:nvSpPr>
        <p:spPr>
          <a:xfrm>
            <a:off x="6015038" y="1639605"/>
            <a:ext cx="257175" cy="257175"/>
          </a:xfrm>
          <a:prstGeom prst="ellipse">
            <a:avLst/>
          </a:prstGeom>
          <a:solidFill>
            <a:srgbClr val="15316B"/>
          </a:solidFill>
          <a:ln/>
        </p:spPr>
      </p:sp>
      <p:sp>
        <p:nvSpPr>
          <p:cNvPr id="19" name="Text 16"/>
          <p:cNvSpPr/>
          <p:nvPr/>
        </p:nvSpPr>
        <p:spPr>
          <a:xfrm>
            <a:off x="6015038" y="1675209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429250" y="2018109"/>
            <a:ext cx="14287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429250" y="2185988"/>
            <a:ext cx="1428750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6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facts to specific regions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7586663" y="1615155"/>
            <a:ext cx="257175" cy="257175"/>
          </a:xfrm>
          <a:prstGeom prst="ellipse">
            <a:avLst/>
          </a:prstGeom>
          <a:solidFill>
            <a:srgbClr val="15316B"/>
          </a:solidFill>
          <a:ln/>
        </p:spPr>
      </p:sp>
      <p:sp>
        <p:nvSpPr>
          <p:cNvPr id="23" name="Text 20"/>
          <p:cNvSpPr/>
          <p:nvPr/>
        </p:nvSpPr>
        <p:spPr>
          <a:xfrm>
            <a:off x="7586663" y="1675209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000875" y="2018109"/>
            <a:ext cx="14287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000875" y="2185988"/>
            <a:ext cx="1428750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6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 structured database rows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500063" y="3560434"/>
            <a:ext cx="250031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articles are transformed into </a:t>
            </a:r>
            <a:r>
              <a:rPr lang="en-US" sz="12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 database records</a:t>
            </a:r>
            <a:r>
              <a:rPr lang="en-US" sz="1250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every region.</a:t>
            </a:r>
            <a:endParaRPr lang="en-US" sz="125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6125" y="2868885"/>
            <a:ext cx="5357813" cy="200025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00063" y="4839891"/>
            <a:ext cx="2556402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kern="0" spc="1" dirty="0">
                <a:solidFill>
                  <a:srgbClr val="7A8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· EVIDENCE-BACKED REGIONAL INTELLIGENCE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442913"/>
            <a:ext cx="81438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THE ROADMAP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00063" y="635794"/>
            <a:ext cx="8143875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531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00063" y="1460897"/>
            <a:ext cx="3857625" cy="310753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Technical Goals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00063" y="1943100"/>
            <a:ext cx="228600" cy="228600"/>
          </a:xfrm>
          <a:prstGeom prst="rect">
            <a:avLst/>
          </a:prstGeom>
          <a:solidFill>
            <a:srgbClr val="F5F7FA"/>
          </a:solidFill>
          <a:ln w="9144">
            <a:solidFill>
              <a:srgbClr val="1F4E9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0063" y="1943100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900113" y="1943100"/>
            <a:ext cx="34575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ML Foundation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00113" y="2128838"/>
            <a:ext cx="345757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historical property dataset and train the first baseline ML model for price prediction.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00063" y="2600325"/>
            <a:ext cx="228600" cy="228600"/>
          </a:xfrm>
          <a:prstGeom prst="rect">
            <a:avLst/>
          </a:prstGeom>
          <a:solidFill>
            <a:srgbClr val="F5F7FA"/>
          </a:solidFill>
          <a:ln w="9144">
            <a:solidFill>
              <a:srgbClr val="1F4E9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0063" y="260032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900113" y="2600325"/>
            <a:ext cx="34575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Intelligence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00113" y="2786063"/>
            <a:ext cx="345757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scheduled news extraction to the database and implement the human-in-the-loop review process.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786313" y="1460897"/>
            <a:ext cx="3857625" cy="310753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Expansion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786313" y="1943100"/>
            <a:ext cx="228600" cy="228600"/>
          </a:xfrm>
          <a:prstGeom prst="rect">
            <a:avLst/>
          </a:prstGeom>
          <a:solidFill>
            <a:srgbClr val="F5F7FA"/>
          </a:solidFill>
          <a:ln w="9144">
            <a:solidFill>
              <a:srgbClr val="1F4E9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86313" y="1943100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5186363" y="1943100"/>
            <a:ext cx="34575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Readiness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186363" y="2128838"/>
            <a:ext cx="345757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database migrations, automated monitoring, and model versioning to ensure system reliability.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786313" y="2600325"/>
            <a:ext cx="228600" cy="228600"/>
          </a:xfrm>
          <a:prstGeom prst="rect">
            <a:avLst/>
          </a:prstGeom>
          <a:solidFill>
            <a:srgbClr val="F5F7FA"/>
          </a:solidFill>
          <a:ln w="9144">
            <a:solidFill>
              <a:srgbClr val="1F4E9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86313" y="260032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5186363" y="2600325"/>
            <a:ext cx="34575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All-India Rollout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186363" y="2786063"/>
            <a:ext cx="345757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from the current MVP regions to cover all states and major infrastructure projects across India.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00063" y="3543300"/>
            <a:ext cx="8143875" cy="857250"/>
          </a:xfrm>
          <a:prstGeom prst="rect">
            <a:avLst/>
          </a:prstGeom>
          <a:solidFill>
            <a:srgbClr val="F5F7FA"/>
          </a:solidFill>
          <a:ln w="9144">
            <a:solidFill>
              <a:srgbClr val="D9E2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28663" y="3714750"/>
            <a:ext cx="76866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"Moving from a functional presentation MVP to a production-ready intelligence platform for regional development."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00063" y="4839891"/>
            <a:ext cx="1936347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kern="0" spc="1" dirty="0">
                <a:solidFill>
                  <a:srgbClr val="7A8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· FUTURE DEVELOPMENT PATH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57313" y="1778124"/>
            <a:ext cx="642937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30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scattered public information to </a:t>
            </a:r>
            <a:r>
              <a:rPr lang="en-US" sz="3050" i="1" dirty="0">
                <a:solidFill>
                  <a:srgbClr val="9CC3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clear development view.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1357313" y="3372520"/>
            <a:ext cx="64293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kern="0" spc="3" dirty="0">
                <a:solidFill>
                  <a:srgbClr val="9CC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0" y="4664869"/>
            <a:ext cx="91440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kern="0" spc="2" dirty="0">
                <a:solidFill>
                  <a:srgbClr val="C7D8ED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· PROPERTY VALUE &amp; INFRASTRUCTURE IMPACT ESTIMATOR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722</Words>
  <Application>Microsoft Office PowerPoint</Application>
  <PresentationFormat>On-screen Show (16:9)</PresentationFormat>
  <Paragraphs>159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vignesh R.</cp:lastModifiedBy>
  <cp:revision>2</cp:revision>
  <dcterms:created xsi:type="dcterms:W3CDTF">2026-08-26T06:43:50Z</dcterms:created>
  <dcterms:modified xsi:type="dcterms:W3CDTF">2026-09-03T03:20:52Z</dcterms:modified>
</cp:coreProperties>
</file>